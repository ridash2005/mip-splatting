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signal framing, not the graphics framing. One sentence: this is reconstruction from non-uniform samples without a matched anti-alias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single most important conceptual bridge. If the panel takes one thing from Part I, it is that 3DGS is not a different physical model — it is a different sampling strategy for the same integral.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here: why not project back onto the PSD cone after each step? Answer: you could, but the factored form is cheaper, and it makes the scale and rotation independently controllable, which the densification step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dataset averages, A6000. NOT the Figure 1 teaser numbers, which are single-scene and about 3 dB lower — my EE60030 report quotes those with a dataset caption and needs fixing. Always say which numbers you re-ran and which you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novelty undeniable. It is verifiable in thirty seconds by anyone in the room.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talk about radiance fields rather than about splatting. If the panel takes one thing from Part IV, it is that the three methods differ only in how they answer one question, and none of them answers it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separates a plan from a wish. Every row can be falsified by an experiment already in the protocol. If a panel member asks 'what if it does not work?', point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1371600"/>
            <a:ext cx="10881360" cy="274320"/>
          </a:xfrm>
          <a:prstGeom prst="rect">
            <a:avLst/>
          </a:prstGeom>
          <a:noFill/>
          <a:ln/>
        </p:spPr>
        <p:txBody>
          <a:bodyPr wrap="square" lIns="0" tIns="0" rIns="0" bIns="0" rtlCol="0" anchor="ctr"/>
          <a:lstStyle/>
          <a:p>
            <a:pPr indent="0" marL="0">
              <a:buNone/>
            </a:pPr>
            <a:r>
              <a:rPr lang="en-US" sz="1150" b="1" spc="240" kern="0" dirty="0">
                <a:solidFill>
                  <a:srgbClr val="E9814F"/>
                </a:solidFill>
                <a:latin typeface="Calibri" pitchFamily="34" charset="0"/>
                <a:ea typeface="Calibri" pitchFamily="34" charset="-122"/>
                <a:cs typeface="Calibri" pitchFamily="34" charset="-120"/>
              </a:rPr>
              <a:t>B.TECH PROJECT SEMINAR  ·  ELECTRICAL ENGINEERING  ·  IIT KHARAGPUR</a:t>
            </a:r>
            <a:endParaRPr lang="en-US" sz="1150" dirty="0"/>
          </a:p>
        </p:txBody>
      </p:sp>
      <p:sp>
        <p:nvSpPr>
          <p:cNvPr id="3" name="Text 1"/>
          <p:cNvSpPr txBox="1"/>
          <p:nvPr/>
        </p:nvSpPr>
        <p:spPr>
          <a:xfrm>
            <a:off x="640080" y="1828800"/>
            <a:ext cx="10881360" cy="10515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Sampling-Geometry Band-Limits</a:t>
            </a:r>
            <a:endParaRPr lang="en-US" sz="4800" dirty="0"/>
          </a:p>
        </p:txBody>
      </p:sp>
      <p:sp>
        <p:nvSpPr>
          <p:cNvPr id="4" name="Text 2"/>
          <p:cNvSpPr txBox="1"/>
          <p:nvPr/>
        </p:nvSpPr>
        <p:spPr>
          <a:xfrm>
            <a:off x="640080" y="2633472"/>
            <a:ext cx="10881360" cy="548640"/>
          </a:xfrm>
          <a:prstGeom prst="rect">
            <a:avLst/>
          </a:prstGeom>
          <a:noFill/>
          <a:ln/>
        </p:spPr>
        <p:txBody>
          <a:bodyPr wrap="square" lIns="0" tIns="0" rIns="0" bIns="0" rtlCol="0" anchor="ctr"/>
          <a:lstStyle/>
          <a:p>
            <a:pPr indent="0" marL="0">
              <a:buNone/>
            </a:pPr>
            <a:r>
              <a:rPr lang="en-US" sz="3000" i="1" dirty="0">
                <a:solidFill>
                  <a:srgbClr val="9DACC0"/>
                </a:solidFill>
                <a:latin typeface="Cambria" pitchFamily="34" charset="0"/>
                <a:ea typeface="Cambria" pitchFamily="34" charset="-122"/>
                <a:cs typeface="Cambria" pitchFamily="34" charset="-120"/>
              </a:rPr>
              <a:t>for Radiance Fields</a:t>
            </a:r>
            <a:endParaRPr lang="en-US" sz="3000" dirty="0"/>
          </a:p>
        </p:txBody>
      </p:sp>
      <p:sp>
        <p:nvSpPr>
          <p:cNvPr id="5" name="Text 3"/>
          <p:cNvSpPr txBox="1"/>
          <p:nvPr/>
        </p:nvSpPr>
        <p:spPr>
          <a:xfrm>
            <a:off x="640080" y="3401568"/>
            <a:ext cx="9875520" cy="914400"/>
          </a:xfrm>
          <a:prstGeom prst="rect">
            <a:avLst/>
          </a:prstGeom>
          <a:noFill/>
          <a:ln/>
        </p:spPr>
        <p:txBody>
          <a:bodyPr wrap="square" lIns="0" tIns="0" rIns="0" bIns="0" rtlCol="0" anchor="ctr"/>
          <a:lstStyle/>
          <a:p>
            <a:pPr indent="0" marL="0">
              <a:lnSpc>
                <a:spcPts val="2800"/>
              </a:lnSpc>
              <a:buNone/>
            </a:pPr>
            <a:r>
              <a:rPr lang="en-US" sz="1750" i="1" dirty="0">
                <a:solidFill>
                  <a:srgbClr val="9DACC0"/>
                </a:solidFill>
                <a:latin typeface="Cambria" pitchFamily="34" charset="0"/>
                <a:ea typeface="Cambria" pitchFamily="34" charset="-122"/>
                <a:cs typeface="Cambria" pitchFamily="34" charset="-120"/>
              </a:rPr>
              <a:t>NeRF band-limits the radiance field globally, by hand. 3DGS does not band-limit it at all.</a:t>
            </a:r>
            <a:endParaRPr lang="en-US" sz="1750" dirty="0"/>
          </a:p>
          <a:p>
            <a:pPr indent="0" marL="0">
              <a:lnSpc>
                <a:spcPts val="2800"/>
              </a:lnSpc>
              <a:buNone/>
            </a:pPr>
            <a:r>
              <a:rPr lang="en-US" sz="1750" i="1" dirty="0">
                <a:solidFill>
                  <a:srgbClr val="9DACC0"/>
                </a:solidFill>
                <a:latin typeface="Cambria" pitchFamily="34" charset="0"/>
                <a:ea typeface="Cambria" pitchFamily="34" charset="-122"/>
                <a:cs typeface="Cambria" pitchFamily="34" charset="-120"/>
              </a:rPr>
              <a:t>The limit the cameras actually imply is local, directional, and computable.</a:t>
            </a:r>
            <a:endParaRPr lang="en-US" sz="1750" dirty="0"/>
          </a:p>
        </p:txBody>
      </p:sp>
      <p:sp>
        <p:nvSpPr>
          <p:cNvPr id="6" name="Shape 4"/>
          <p:cNvSpPr/>
          <p:nvPr/>
        </p:nvSpPr>
        <p:spPr>
          <a:xfrm>
            <a:off x="640080" y="4553712"/>
            <a:ext cx="2926080" cy="0"/>
          </a:xfrm>
          <a:prstGeom prst="line">
            <a:avLst/>
          </a:prstGeom>
          <a:noFill/>
          <a:ln w="12700">
            <a:solidFill>
              <a:srgbClr val="2A3546"/>
            </a:solidFill>
            <a:prstDash val="solid"/>
          </a:ln>
        </p:spPr>
      </p:sp>
      <p:sp>
        <p:nvSpPr>
          <p:cNvPr id="7" name="Text 5"/>
          <p:cNvSpPr txBox="1"/>
          <p:nvPr/>
        </p:nvSpPr>
        <p:spPr>
          <a:xfrm>
            <a:off x="640080" y="4800600"/>
            <a:ext cx="10607040" cy="1188720"/>
          </a:xfrm>
          <a:prstGeom prst="rect">
            <a:avLst/>
          </a:prstGeom>
          <a:noFill/>
          <a:ln/>
        </p:spPr>
        <p:txBody>
          <a:bodyPr wrap="square" lIns="0" tIns="0" rIns="0" bIns="0" rtlCol="0" anchor="ctr"/>
          <a:lstStyle/>
          <a:p>
            <a:pPr indent="0" marL="0">
              <a:lnSpc>
                <a:spcPts val="2200"/>
              </a:lnSpc>
              <a:buNone/>
            </a:pPr>
            <a:r>
              <a:rPr lang="en-US" sz="1300" b="1" dirty="0">
                <a:solidFill>
                  <a:srgbClr val="FFFFFF"/>
                </a:solidFill>
                <a:latin typeface="Calibri" pitchFamily="34" charset="0"/>
                <a:ea typeface="Calibri" pitchFamily="34" charset="-122"/>
                <a:cs typeface="Calibri" pitchFamily="34" charset="-120"/>
              </a:rPr>
              <a:t>Rickarya</a:t>
            </a:r>
            <a:endParaRPr lang="en-US" sz="1300" dirty="0"/>
          </a:p>
          <a:p>
            <a:pPr indent="0" marL="0">
              <a:lnSpc>
                <a:spcPts val="2200"/>
              </a:lnSpc>
              <a:buNone/>
            </a:pPr>
            <a:r>
              <a:rPr lang="en-US" sz="1300" dirty="0">
                <a:solidFill>
                  <a:srgbClr val="9DACC0"/>
                </a:solidFill>
                <a:latin typeface="Calibri" pitchFamily="34" charset="0"/>
                <a:ea typeface="Calibri" pitchFamily="34" charset="-122"/>
                <a:cs typeface="Calibri" pitchFamily="34" charset="-120"/>
              </a:rPr>
              <a:t>23EE30019  ·  Signal Processing &amp; Machine Learning</a:t>
            </a:r>
            <a:endParaRPr lang="en-US" sz="1300" dirty="0"/>
          </a:p>
          <a:p>
            <a:pPr indent="0" marL="0">
              <a:lnSpc>
                <a:spcPts val="2200"/>
              </a:lnSpc>
              <a:buNone/>
            </a:pPr>
            <a:r>
              <a:rPr lang="en-US" sz="1300" dirty="0">
                <a:solidFill>
                  <a:srgbClr val="9DACC0"/>
                </a:solidFill>
                <a:latin typeface="Calibri" pitchFamily="34" charset="0"/>
                <a:ea typeface="Calibri" pitchFamily="34" charset="-122"/>
                <a:cs typeface="Calibri" pitchFamily="34" charset="-120"/>
              </a:rPr>
              <a:t>Mildenhall et al., NeRF (ECCV 2020) · Kerbl et al., 3D Gaussian Splatting (SIGGRAPH 2023) · Yu et al., Mip-Splatting (CVPR 2024)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What this talk argues</a:t>
            </a:r>
            <a:endParaRPr lang="en-US" sz="3200" dirty="0"/>
          </a:p>
        </p:txBody>
      </p:sp>
      <p:sp>
        <p:nvSpPr>
          <p:cNvPr id="3" name="Text 1"/>
          <p:cNvSpPr txBox="1"/>
          <p:nvPr/>
        </p:nvSpPr>
        <p:spPr>
          <a:xfrm>
            <a:off x="640080" y="1655064"/>
            <a:ext cx="1188720" cy="274320"/>
          </a:xfrm>
          <a:prstGeom prst="rect">
            <a:avLst/>
          </a:prstGeom>
          <a:noFill/>
          <a:ln/>
        </p:spPr>
        <p:txBody>
          <a:bodyPr wrap="square" lIns="0" tIns="0" rIns="0" bIns="0" rtlCol="0" anchor="ctr"/>
          <a:lstStyle/>
          <a:p>
            <a:pPr indent="0" marL="0">
              <a:buNone/>
            </a:pPr>
            <a:r>
              <a:rPr lang="en-US" sz="1050" b="1" spc="160" kern="0" dirty="0">
                <a:solidFill>
                  <a:srgbClr val="C2582B"/>
                </a:solidFill>
                <a:latin typeface="Calibri" pitchFamily="34" charset="0"/>
                <a:ea typeface="Calibri" pitchFamily="34" charset="-122"/>
                <a:cs typeface="Calibri" pitchFamily="34" charset="-120"/>
              </a:rPr>
              <a:t>PART I</a:t>
            </a:r>
            <a:endParaRPr lang="en-US" sz="1050" dirty="0"/>
          </a:p>
        </p:txBody>
      </p:sp>
      <p:sp>
        <p:nvSpPr>
          <p:cNvPr id="4" name="Text 2"/>
          <p:cNvSpPr txBox="1"/>
          <p:nvPr/>
        </p:nvSpPr>
        <p:spPr>
          <a:xfrm>
            <a:off x="1965960" y="1563624"/>
            <a:ext cx="3291840" cy="365760"/>
          </a:xfrm>
          <a:prstGeom prst="rect">
            <a:avLst/>
          </a:prstGeom>
          <a:noFill/>
          <a:ln/>
        </p:spPr>
        <p:txBody>
          <a:bodyPr wrap="square" lIns="0" tIns="0" rIns="0" bIns="0" rtlCol="0" anchor="ctr"/>
          <a:lstStyle/>
          <a:p>
            <a:pPr indent="0" marL="0">
              <a:buNone/>
            </a:pPr>
            <a:r>
              <a:rPr lang="en-US" sz="2000" b="1" dirty="0">
                <a:solidFill>
                  <a:srgbClr val="16202F"/>
                </a:solidFill>
                <a:latin typeface="Cambria" pitchFamily="34" charset="0"/>
                <a:ea typeface="Cambria" pitchFamily="34" charset="-122"/>
                <a:cs typeface="Cambria" pitchFamily="34" charset="-120"/>
              </a:rPr>
              <a:t>Radiance fields</a:t>
            </a:r>
            <a:endParaRPr lang="en-US" sz="2000" dirty="0"/>
          </a:p>
        </p:txBody>
      </p:sp>
      <p:sp>
        <p:nvSpPr>
          <p:cNvPr id="5" name="Text 3"/>
          <p:cNvSpPr txBox="1"/>
          <p:nvPr/>
        </p:nvSpPr>
        <p:spPr>
          <a:xfrm>
            <a:off x="5440680" y="1600200"/>
            <a:ext cx="6080760" cy="640080"/>
          </a:xfrm>
          <a:prstGeom prst="rect">
            <a:avLst/>
          </a:prstGeom>
          <a:noFill/>
          <a:ln/>
        </p:spPr>
        <p:txBody>
          <a:bodyPr wrap="square" lIns="0" tIns="0" rIns="0" bIns="0" rtlCol="0" anchor="ctr"/>
          <a:lstStyle/>
          <a:p>
            <a:pPr indent="0" marL="0">
              <a:lnSpc>
                <a:spcPts val="2000"/>
              </a:lnSpc>
              <a:buNone/>
            </a:pPr>
            <a:r>
              <a:rPr lang="en-US" sz="1400" dirty="0">
                <a:solidFill>
                  <a:srgbClr val="5B6B80"/>
                </a:solidFill>
                <a:latin typeface="Calibri" pitchFamily="34" charset="0"/>
                <a:ea typeface="Calibri" pitchFamily="34" charset="-122"/>
                <a:cs typeface="Calibri" pitchFamily="34" charset="-120"/>
              </a:rPr>
              <a:t>How NeRF posed novel-view synthesis, and why it was unusably slow.</a:t>
            </a:r>
            <a:endParaRPr lang="en-US" sz="1400" dirty="0"/>
          </a:p>
        </p:txBody>
      </p:sp>
      <p:sp>
        <p:nvSpPr>
          <p:cNvPr id="6" name="Shape 4"/>
          <p:cNvSpPr/>
          <p:nvPr/>
        </p:nvSpPr>
        <p:spPr>
          <a:xfrm>
            <a:off x="640080" y="2514600"/>
            <a:ext cx="10881360" cy="0"/>
          </a:xfrm>
          <a:prstGeom prst="line">
            <a:avLst/>
          </a:prstGeom>
          <a:noFill/>
          <a:ln w="9525">
            <a:solidFill>
              <a:srgbClr val="D5DCE5"/>
            </a:solidFill>
            <a:prstDash val="solid"/>
          </a:ln>
        </p:spPr>
      </p:sp>
      <p:sp>
        <p:nvSpPr>
          <p:cNvPr id="7" name="Text 5"/>
          <p:cNvSpPr txBox="1"/>
          <p:nvPr/>
        </p:nvSpPr>
        <p:spPr>
          <a:xfrm>
            <a:off x="640080" y="2770632"/>
            <a:ext cx="1188720" cy="274320"/>
          </a:xfrm>
          <a:prstGeom prst="rect">
            <a:avLst/>
          </a:prstGeom>
          <a:noFill/>
          <a:ln/>
        </p:spPr>
        <p:txBody>
          <a:bodyPr wrap="square" lIns="0" tIns="0" rIns="0" bIns="0" rtlCol="0" anchor="ctr"/>
          <a:lstStyle/>
          <a:p>
            <a:pPr indent="0" marL="0">
              <a:buNone/>
            </a:pPr>
            <a:r>
              <a:rPr lang="en-US" sz="1050" b="1" spc="160" kern="0" dirty="0">
                <a:solidFill>
                  <a:srgbClr val="C2582B"/>
                </a:solidFill>
                <a:latin typeface="Calibri" pitchFamily="34" charset="0"/>
                <a:ea typeface="Calibri" pitchFamily="34" charset="-122"/>
                <a:cs typeface="Calibri" pitchFamily="34" charset="-120"/>
              </a:rPr>
              <a:t>PART II</a:t>
            </a:r>
            <a:endParaRPr lang="en-US" sz="1050" dirty="0"/>
          </a:p>
        </p:txBody>
      </p:sp>
      <p:sp>
        <p:nvSpPr>
          <p:cNvPr id="8" name="Text 6"/>
          <p:cNvSpPr txBox="1"/>
          <p:nvPr/>
        </p:nvSpPr>
        <p:spPr>
          <a:xfrm>
            <a:off x="1965960" y="2679192"/>
            <a:ext cx="3291840" cy="365760"/>
          </a:xfrm>
          <a:prstGeom prst="rect">
            <a:avLst/>
          </a:prstGeom>
          <a:noFill/>
          <a:ln/>
        </p:spPr>
        <p:txBody>
          <a:bodyPr wrap="square" lIns="0" tIns="0" rIns="0" bIns="0" rtlCol="0" anchor="ctr"/>
          <a:lstStyle/>
          <a:p>
            <a:pPr indent="0" marL="0">
              <a:buNone/>
            </a:pPr>
            <a:r>
              <a:rPr lang="en-US" sz="2000" b="1" dirty="0">
                <a:solidFill>
                  <a:srgbClr val="16202F"/>
                </a:solidFill>
                <a:latin typeface="Cambria" pitchFamily="34" charset="0"/>
                <a:ea typeface="Cambria" pitchFamily="34" charset="-122"/>
                <a:cs typeface="Cambria" pitchFamily="34" charset="-120"/>
              </a:rPr>
              <a:t>3D Gaussian Splatting</a:t>
            </a:r>
            <a:endParaRPr lang="en-US" sz="2000" dirty="0"/>
          </a:p>
        </p:txBody>
      </p:sp>
      <p:sp>
        <p:nvSpPr>
          <p:cNvPr id="9" name="Text 7"/>
          <p:cNvSpPr txBox="1"/>
          <p:nvPr/>
        </p:nvSpPr>
        <p:spPr>
          <a:xfrm>
            <a:off x="5440680" y="2715768"/>
            <a:ext cx="6080760" cy="640080"/>
          </a:xfrm>
          <a:prstGeom prst="rect">
            <a:avLst/>
          </a:prstGeom>
          <a:noFill/>
          <a:ln/>
        </p:spPr>
        <p:txBody>
          <a:bodyPr wrap="square" lIns="0" tIns="0" rIns="0" bIns="0" rtlCol="0" anchor="ctr"/>
          <a:lstStyle/>
          <a:p>
            <a:pPr indent="0" marL="0">
              <a:lnSpc>
                <a:spcPts val="2000"/>
              </a:lnSpc>
              <a:buNone/>
            </a:pPr>
            <a:r>
              <a:rPr lang="en-US" sz="1400" dirty="0">
                <a:solidFill>
                  <a:srgbClr val="5B6B80"/>
                </a:solidFill>
                <a:latin typeface="Calibri" pitchFamily="34" charset="0"/>
                <a:ea typeface="Calibri" pitchFamily="34" charset="-122"/>
                <a:cs typeface="Calibri" pitchFamily="34" charset="-120"/>
              </a:rPr>
              <a:t>The representation, the rasteriser, and the heuristics holding it together.</a:t>
            </a:r>
            <a:endParaRPr lang="en-US" sz="1400" dirty="0"/>
          </a:p>
        </p:txBody>
      </p:sp>
      <p:sp>
        <p:nvSpPr>
          <p:cNvPr id="10" name="Shape 8"/>
          <p:cNvSpPr/>
          <p:nvPr/>
        </p:nvSpPr>
        <p:spPr>
          <a:xfrm>
            <a:off x="640080" y="3630168"/>
            <a:ext cx="10881360" cy="0"/>
          </a:xfrm>
          <a:prstGeom prst="line">
            <a:avLst/>
          </a:prstGeom>
          <a:noFill/>
          <a:ln w="9525">
            <a:solidFill>
              <a:srgbClr val="D5DCE5"/>
            </a:solidFill>
            <a:prstDash val="solid"/>
          </a:ln>
        </p:spPr>
      </p:sp>
      <p:sp>
        <p:nvSpPr>
          <p:cNvPr id="11" name="Text 9"/>
          <p:cNvSpPr txBox="1"/>
          <p:nvPr/>
        </p:nvSpPr>
        <p:spPr>
          <a:xfrm>
            <a:off x="640080" y="3886200"/>
            <a:ext cx="1188720" cy="274320"/>
          </a:xfrm>
          <a:prstGeom prst="rect">
            <a:avLst/>
          </a:prstGeom>
          <a:noFill/>
          <a:ln/>
        </p:spPr>
        <p:txBody>
          <a:bodyPr wrap="square" lIns="0" tIns="0" rIns="0" bIns="0" rtlCol="0" anchor="ctr"/>
          <a:lstStyle/>
          <a:p>
            <a:pPr indent="0" marL="0">
              <a:buNone/>
            </a:pPr>
            <a:r>
              <a:rPr lang="en-US" sz="1050" b="1" spc="160" kern="0" dirty="0">
                <a:solidFill>
                  <a:srgbClr val="C2582B"/>
                </a:solidFill>
                <a:latin typeface="Calibri" pitchFamily="34" charset="0"/>
                <a:ea typeface="Calibri" pitchFamily="34" charset="-122"/>
                <a:cs typeface="Calibri" pitchFamily="34" charset="-120"/>
              </a:rPr>
              <a:t>PART III</a:t>
            </a:r>
            <a:endParaRPr lang="en-US" sz="1050" dirty="0"/>
          </a:p>
        </p:txBody>
      </p:sp>
      <p:sp>
        <p:nvSpPr>
          <p:cNvPr id="12" name="Text 10"/>
          <p:cNvSpPr txBox="1"/>
          <p:nvPr/>
        </p:nvSpPr>
        <p:spPr>
          <a:xfrm>
            <a:off x="1965960" y="3794760"/>
            <a:ext cx="3291840" cy="365760"/>
          </a:xfrm>
          <a:prstGeom prst="rect">
            <a:avLst/>
          </a:prstGeom>
          <a:noFill/>
          <a:ln/>
        </p:spPr>
        <p:txBody>
          <a:bodyPr wrap="square" lIns="0" tIns="0" rIns="0" bIns="0" rtlCol="0" anchor="ctr"/>
          <a:lstStyle/>
          <a:p>
            <a:pPr indent="0" marL="0">
              <a:buNone/>
            </a:pPr>
            <a:r>
              <a:rPr lang="en-US" sz="2000" b="1" dirty="0">
                <a:solidFill>
                  <a:srgbClr val="16202F"/>
                </a:solidFill>
                <a:latin typeface="Cambria" pitchFamily="34" charset="0"/>
                <a:ea typeface="Cambria" pitchFamily="34" charset="-122"/>
                <a:cs typeface="Cambria" pitchFamily="34" charset="-120"/>
              </a:rPr>
              <a:t>The gap</a:t>
            </a:r>
            <a:endParaRPr lang="en-US" sz="2000" dirty="0"/>
          </a:p>
        </p:txBody>
      </p:sp>
      <p:sp>
        <p:nvSpPr>
          <p:cNvPr id="13" name="Text 11"/>
          <p:cNvSpPr txBox="1"/>
          <p:nvPr/>
        </p:nvSpPr>
        <p:spPr>
          <a:xfrm>
            <a:off x="5440680" y="3831336"/>
            <a:ext cx="6080760" cy="640080"/>
          </a:xfrm>
          <a:prstGeom prst="rect">
            <a:avLst/>
          </a:prstGeom>
          <a:noFill/>
          <a:ln/>
        </p:spPr>
        <p:txBody>
          <a:bodyPr wrap="square" lIns="0" tIns="0" rIns="0" bIns="0" rtlCol="0" anchor="ctr"/>
          <a:lstStyle/>
          <a:p>
            <a:pPr indent="0" marL="0">
              <a:lnSpc>
                <a:spcPts val="2000"/>
              </a:lnSpc>
              <a:buNone/>
            </a:pPr>
            <a:r>
              <a:rPr lang="en-US" sz="1400" dirty="0">
                <a:solidFill>
                  <a:srgbClr val="5B6B80"/>
                </a:solidFill>
                <a:latin typeface="Calibri" pitchFamily="34" charset="0"/>
                <a:ea typeface="Calibri" pitchFamily="34" charset="-122"/>
                <a:cs typeface="Calibri" pitchFamily="34" charset="-120"/>
              </a:rPr>
              <a:t>Every filtering decision in 3DGS ignores the geometry of the capture.</a:t>
            </a:r>
            <a:endParaRPr lang="en-US" sz="1400" dirty="0"/>
          </a:p>
        </p:txBody>
      </p:sp>
      <p:sp>
        <p:nvSpPr>
          <p:cNvPr id="14" name="Shape 12"/>
          <p:cNvSpPr/>
          <p:nvPr/>
        </p:nvSpPr>
        <p:spPr>
          <a:xfrm>
            <a:off x="640080" y="4745736"/>
            <a:ext cx="10881360" cy="0"/>
          </a:xfrm>
          <a:prstGeom prst="line">
            <a:avLst/>
          </a:prstGeom>
          <a:noFill/>
          <a:ln w="9525">
            <a:solidFill>
              <a:srgbClr val="D5DCE5"/>
            </a:solidFill>
            <a:prstDash val="solid"/>
          </a:ln>
        </p:spPr>
      </p:sp>
      <p:sp>
        <p:nvSpPr>
          <p:cNvPr id="15" name="Text 13"/>
          <p:cNvSpPr txBox="1"/>
          <p:nvPr/>
        </p:nvSpPr>
        <p:spPr>
          <a:xfrm>
            <a:off x="640080" y="5001768"/>
            <a:ext cx="1188720" cy="274320"/>
          </a:xfrm>
          <a:prstGeom prst="rect">
            <a:avLst/>
          </a:prstGeom>
          <a:noFill/>
          <a:ln/>
        </p:spPr>
        <p:txBody>
          <a:bodyPr wrap="square" lIns="0" tIns="0" rIns="0" bIns="0" rtlCol="0" anchor="ctr"/>
          <a:lstStyle/>
          <a:p>
            <a:pPr indent="0" marL="0">
              <a:buNone/>
            </a:pPr>
            <a:r>
              <a:rPr lang="en-US" sz="1050" b="1" spc="160" kern="0" dirty="0">
                <a:solidFill>
                  <a:srgbClr val="C2582B"/>
                </a:solidFill>
                <a:latin typeface="Calibri" pitchFamily="34" charset="0"/>
                <a:ea typeface="Calibri" pitchFamily="34" charset="-122"/>
                <a:cs typeface="Calibri" pitchFamily="34" charset="-120"/>
              </a:rPr>
              <a:t>PART IV</a:t>
            </a:r>
            <a:endParaRPr lang="en-US" sz="1050" dirty="0"/>
          </a:p>
        </p:txBody>
      </p:sp>
      <p:sp>
        <p:nvSpPr>
          <p:cNvPr id="16" name="Text 14"/>
          <p:cNvSpPr txBox="1"/>
          <p:nvPr/>
        </p:nvSpPr>
        <p:spPr>
          <a:xfrm>
            <a:off x="1965960" y="4910328"/>
            <a:ext cx="3291840" cy="365760"/>
          </a:xfrm>
          <a:prstGeom prst="rect">
            <a:avLst/>
          </a:prstGeom>
          <a:noFill/>
          <a:ln/>
        </p:spPr>
        <p:txBody>
          <a:bodyPr wrap="square" lIns="0" tIns="0" rIns="0" bIns="0" rtlCol="0" anchor="ctr"/>
          <a:lstStyle/>
          <a:p>
            <a:pPr indent="0" marL="0">
              <a:buNone/>
            </a:pPr>
            <a:r>
              <a:rPr lang="en-US" sz="2000" b="1" dirty="0">
                <a:solidFill>
                  <a:srgbClr val="16202F"/>
                </a:solidFill>
                <a:latin typeface="Cambria" pitchFamily="34" charset="0"/>
                <a:ea typeface="Cambria" pitchFamily="34" charset="-122"/>
                <a:cs typeface="Cambria" pitchFamily="34" charset="-120"/>
              </a:rPr>
              <a:t>Proposal</a:t>
            </a:r>
            <a:endParaRPr lang="en-US" sz="2000" dirty="0"/>
          </a:p>
        </p:txBody>
      </p:sp>
      <p:sp>
        <p:nvSpPr>
          <p:cNvPr id="17" name="Text 15"/>
          <p:cNvSpPr txBox="1"/>
          <p:nvPr/>
        </p:nvSpPr>
        <p:spPr>
          <a:xfrm>
            <a:off x="5440680" y="4946904"/>
            <a:ext cx="6080760" cy="640080"/>
          </a:xfrm>
          <a:prstGeom prst="rect">
            <a:avLst/>
          </a:prstGeom>
          <a:noFill/>
          <a:ln/>
        </p:spPr>
        <p:txBody>
          <a:bodyPr wrap="square" lIns="0" tIns="0" rIns="0" bIns="0" rtlCol="0" anchor="ctr"/>
          <a:lstStyle/>
          <a:p>
            <a:pPr indent="0" marL="0">
              <a:lnSpc>
                <a:spcPts val="2000"/>
              </a:lnSpc>
              <a:buNone/>
            </a:pPr>
            <a:r>
              <a:rPr lang="en-US" sz="1400" dirty="0">
                <a:solidFill>
                  <a:srgbClr val="5B6B80"/>
                </a:solidFill>
                <a:latin typeface="Calibri" pitchFamily="34" charset="0"/>
                <a:ea typeface="Calibri" pitchFamily="34" charset="-122"/>
                <a:cs typeface="Calibri" pitchFamily="34" charset="-120"/>
              </a:rPr>
              <a:t>One limit, derived from the camera geometry, tested on both representations.</a:t>
            </a:r>
            <a:endParaRPr lang="en-US" sz="1400" dirty="0"/>
          </a:p>
        </p:txBody>
      </p:sp>
      <p:sp>
        <p:nvSpPr>
          <p:cNvPr id="18" name="Text 16"/>
          <p:cNvSpPr txBox="1"/>
          <p:nvPr/>
        </p:nvSpPr>
        <p:spPr>
          <a:xfrm>
            <a:off x="640080" y="5596128"/>
            <a:ext cx="10881360" cy="320040"/>
          </a:xfrm>
          <a:prstGeom prst="rect">
            <a:avLst/>
          </a:prstGeom>
          <a:noFill/>
          <a:ln/>
        </p:spPr>
        <p:txBody>
          <a:bodyPr wrap="square" lIns="0" tIns="0" rIns="0" bIns="0" rtlCol="0" anchor="ctr"/>
          <a:lstStyle/>
          <a:p>
            <a:pPr indent="0" marL="0">
              <a:buNone/>
            </a:pPr>
            <a:r>
              <a:rPr lang="en-US" sz="1500" i="1" dirty="0">
                <a:solidFill>
                  <a:srgbClr val="0D5F68"/>
                </a:solidFill>
                <a:latin typeface="Cambria" pitchFamily="34" charset="0"/>
                <a:ea typeface="Cambria" pitchFamily="34" charset="-122"/>
                <a:cs typeface="Cambria" pitchFamily="34" charset="-120"/>
              </a:rPr>
              <a:t>Take-away: 3DGS solved speed. It did not solve which details the data actually support.</a:t>
            </a:r>
            <a:endParaRPr lang="en-US" sz="1500" dirty="0"/>
          </a:p>
        </p:txBody>
      </p:sp>
      <p:sp>
        <p:nvSpPr>
          <p:cNvPr id="19" name="Text 17"/>
          <p:cNvSpPr txBox="1"/>
          <p:nvPr/>
        </p:nvSpPr>
        <p:spPr>
          <a:xfrm>
            <a:off x="640080" y="5907024"/>
            <a:ext cx="10881360" cy="27432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Parts I–II extend my EE60030 course project (Geometric Methods in Computer Vision, April 2026); Parts III–IV are new.</a:t>
            </a:r>
            <a:endParaRPr lang="en-US" sz="1150" dirty="0"/>
          </a:p>
        </p:txBody>
      </p:sp>
      <p:sp>
        <p:nvSpPr>
          <p:cNvPr id="20" name="Text 18"/>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Roadmap</a:t>
            </a:r>
            <a:endParaRPr lang="en-US" sz="950" dirty="0"/>
          </a:p>
        </p:txBody>
      </p:sp>
      <p:sp>
        <p:nvSpPr>
          <p:cNvPr id="21" name="Text 19"/>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Novel-view synthesis</a:t>
            </a:r>
            <a:endParaRPr lang="en-US" sz="3200" dirty="0"/>
          </a:p>
        </p:txBody>
      </p:sp>
      <p:sp>
        <p:nvSpPr>
          <p:cNvPr id="4" name="Text 2"/>
          <p:cNvSpPr txBox="1"/>
          <p:nvPr/>
        </p:nvSpPr>
        <p:spPr>
          <a:xfrm>
            <a:off x="640080" y="1783080"/>
            <a:ext cx="667512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Input: a set of photographs of a static scene, plus camera poses from Structure-from-Motion (COLMAP), which also yields a sparse point cloud for free.</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Output: a representation that can render the scene from viewpoints never photographed.</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The catch: the photographs are a finite, non-uniform, irregular sampling of a 5D plenoptic function. Everything downstream is a reconstruction problem.</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Three axes are always in tension — visual quality, training time, and rendering speed.</a:t>
            </a:r>
            <a:endParaRPr lang="en-US" sz="1500" dirty="0"/>
          </a:p>
        </p:txBody>
      </p:sp>
      <p:sp>
        <p:nvSpPr>
          <p:cNvPr id="5" name="Shape 3"/>
          <p:cNvSpPr/>
          <p:nvPr/>
        </p:nvSpPr>
        <p:spPr>
          <a:xfrm>
            <a:off x="7635240" y="1783080"/>
            <a:ext cx="3886200" cy="3200400"/>
          </a:xfrm>
          <a:prstGeom prst="roundRect">
            <a:avLst>
              <a:gd name="adj" fmla="val 1714"/>
            </a:avLst>
          </a:prstGeom>
          <a:solidFill>
            <a:srgbClr val="F1F4F8"/>
          </a:solidFill>
          <a:ln w="9525">
            <a:solidFill>
              <a:srgbClr val="D5DCE5"/>
            </a:solidFill>
            <a:prstDash val="solid"/>
          </a:ln>
        </p:spPr>
      </p:sp>
      <p:sp>
        <p:nvSpPr>
          <p:cNvPr id="6" name="Text 4"/>
          <p:cNvSpPr txBox="1"/>
          <p:nvPr/>
        </p:nvSpPr>
        <p:spPr>
          <a:xfrm>
            <a:off x="7891272" y="1965960"/>
            <a:ext cx="3383280" cy="274320"/>
          </a:xfrm>
          <a:prstGeom prst="rect">
            <a:avLst/>
          </a:prstGeom>
          <a:noFill/>
          <a:ln/>
        </p:spPr>
        <p:txBody>
          <a:bodyPr wrap="square" lIns="0" tIns="0" rIns="0" bIns="0" rtlCol="0" anchor="ctr"/>
          <a:lstStyle/>
          <a:p>
            <a:pPr indent="0" marL="0">
              <a:buNone/>
            </a:pPr>
            <a:r>
              <a:rPr lang="en-US" sz="1100" b="1" spc="160" kern="0" dirty="0">
                <a:solidFill>
                  <a:srgbClr val="C2582B"/>
                </a:solidFill>
                <a:latin typeface="Calibri" pitchFamily="34" charset="0"/>
                <a:ea typeface="Calibri" pitchFamily="34" charset="-122"/>
                <a:cs typeface="Calibri" pitchFamily="34" charset="-120"/>
              </a:rPr>
              <a:t>Three axes</a:t>
            </a:r>
            <a:endParaRPr lang="en-US" sz="1100" dirty="0"/>
          </a:p>
        </p:txBody>
      </p:sp>
      <p:sp>
        <p:nvSpPr>
          <p:cNvPr id="7" name="Text 5"/>
          <p:cNvSpPr txBox="1"/>
          <p:nvPr/>
        </p:nvSpPr>
        <p:spPr>
          <a:xfrm>
            <a:off x="7891272" y="2377440"/>
            <a:ext cx="3383280" cy="27432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Quality</a:t>
            </a:r>
            <a:endParaRPr lang="en-US" sz="1700" dirty="0"/>
          </a:p>
        </p:txBody>
      </p:sp>
      <p:sp>
        <p:nvSpPr>
          <p:cNvPr id="8" name="Text 6"/>
          <p:cNvSpPr txBox="1"/>
          <p:nvPr/>
        </p:nvSpPr>
        <p:spPr>
          <a:xfrm>
            <a:off x="7891272" y="2670048"/>
            <a:ext cx="3383280" cy="457200"/>
          </a:xfrm>
          <a:prstGeom prst="rect">
            <a:avLst/>
          </a:prstGeom>
          <a:noFill/>
          <a:ln/>
        </p:spPr>
        <p:txBody>
          <a:bodyPr wrap="square" lIns="0" tIns="0" rIns="0" bIns="0" rtlCol="0" anchor="ctr"/>
          <a:lstStyle/>
          <a:p>
            <a:pPr indent="0" marL="0">
              <a:lnSpc>
                <a:spcPts val="1600"/>
              </a:lnSpc>
              <a:buNone/>
            </a:pPr>
            <a:r>
              <a:rPr lang="en-US" sz="1200" dirty="0">
                <a:solidFill>
                  <a:srgbClr val="5B6B80"/>
                </a:solidFill>
                <a:latin typeface="Calibri" pitchFamily="34" charset="0"/>
                <a:ea typeface="Calibri" pitchFamily="34" charset="-122"/>
                <a:cs typeface="Calibri" pitchFamily="34" charset="-120"/>
              </a:rPr>
              <a:t>PSNR / SSIM / LPIPS on held-out views</a:t>
            </a:r>
            <a:endParaRPr lang="en-US" sz="1200" dirty="0"/>
          </a:p>
        </p:txBody>
      </p:sp>
      <p:sp>
        <p:nvSpPr>
          <p:cNvPr id="9" name="Text 7"/>
          <p:cNvSpPr txBox="1"/>
          <p:nvPr/>
        </p:nvSpPr>
        <p:spPr>
          <a:xfrm>
            <a:off x="7891272" y="3246120"/>
            <a:ext cx="3383280" cy="27432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Training</a:t>
            </a:r>
            <a:endParaRPr lang="en-US" sz="1700" dirty="0"/>
          </a:p>
        </p:txBody>
      </p:sp>
      <p:sp>
        <p:nvSpPr>
          <p:cNvPr id="10" name="Text 8"/>
          <p:cNvSpPr txBox="1"/>
          <p:nvPr/>
        </p:nvSpPr>
        <p:spPr>
          <a:xfrm>
            <a:off x="7891272" y="3538728"/>
            <a:ext cx="3383280" cy="457200"/>
          </a:xfrm>
          <a:prstGeom prst="rect">
            <a:avLst/>
          </a:prstGeom>
          <a:noFill/>
          <a:ln/>
        </p:spPr>
        <p:txBody>
          <a:bodyPr wrap="square" lIns="0" tIns="0" rIns="0" bIns="0" rtlCol="0" anchor="ctr"/>
          <a:lstStyle/>
          <a:p>
            <a:pPr indent="0" marL="0">
              <a:lnSpc>
                <a:spcPts val="1600"/>
              </a:lnSpc>
              <a:buNone/>
            </a:pPr>
            <a:r>
              <a:rPr lang="en-US" sz="1200" dirty="0">
                <a:solidFill>
                  <a:srgbClr val="5B6B80"/>
                </a:solidFill>
                <a:latin typeface="Calibri" pitchFamily="34" charset="0"/>
                <a:ea typeface="Calibri" pitchFamily="34" charset="-122"/>
                <a:cs typeface="Calibri" pitchFamily="34" charset="-120"/>
              </a:rPr>
              <a:t>minutes vs. days on one GPU</a:t>
            </a:r>
            <a:endParaRPr lang="en-US" sz="1200" dirty="0"/>
          </a:p>
        </p:txBody>
      </p:sp>
      <p:sp>
        <p:nvSpPr>
          <p:cNvPr id="11" name="Text 9"/>
          <p:cNvSpPr txBox="1"/>
          <p:nvPr/>
        </p:nvSpPr>
        <p:spPr>
          <a:xfrm>
            <a:off x="7891272" y="4114800"/>
            <a:ext cx="3383280" cy="27432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Rendering</a:t>
            </a:r>
            <a:endParaRPr lang="en-US" sz="1700" dirty="0"/>
          </a:p>
        </p:txBody>
      </p:sp>
      <p:sp>
        <p:nvSpPr>
          <p:cNvPr id="12" name="Text 10"/>
          <p:cNvSpPr txBox="1"/>
          <p:nvPr/>
        </p:nvSpPr>
        <p:spPr>
          <a:xfrm>
            <a:off x="7891272" y="4407408"/>
            <a:ext cx="3383280" cy="457200"/>
          </a:xfrm>
          <a:prstGeom prst="rect">
            <a:avLst/>
          </a:prstGeom>
          <a:noFill/>
          <a:ln/>
        </p:spPr>
        <p:txBody>
          <a:bodyPr wrap="square" lIns="0" tIns="0" rIns="0" bIns="0" rtlCol="0" anchor="ctr"/>
          <a:lstStyle/>
          <a:p>
            <a:pPr indent="0" marL="0">
              <a:lnSpc>
                <a:spcPts val="1600"/>
              </a:lnSpc>
              <a:buNone/>
            </a:pPr>
            <a:r>
              <a:rPr lang="en-US" sz="1200" dirty="0">
                <a:solidFill>
                  <a:srgbClr val="5B6B80"/>
                </a:solidFill>
                <a:latin typeface="Calibri" pitchFamily="34" charset="0"/>
                <a:ea typeface="Calibri" pitchFamily="34" charset="-122"/>
                <a:cs typeface="Calibri" pitchFamily="34" charset="-120"/>
              </a:rPr>
              <a:t>≥ 30 fps at 1080p, or it is not real-time</a:t>
            </a:r>
            <a:endParaRPr lang="en-US" sz="1200" dirty="0"/>
          </a:p>
        </p:txBody>
      </p:sp>
      <p:sp>
        <p:nvSpPr>
          <p:cNvPr id="13" name="Text 11"/>
          <p:cNvSpPr txBox="1"/>
          <p:nvPr/>
        </p:nvSpPr>
        <p:spPr>
          <a:xfrm>
            <a:off x="640080" y="5349240"/>
            <a:ext cx="10881360" cy="365760"/>
          </a:xfrm>
          <a:prstGeom prst="rect">
            <a:avLst/>
          </a:prstGeom>
          <a:noFill/>
          <a:ln/>
        </p:spPr>
        <p:txBody>
          <a:bodyPr wrap="square" lIns="0" tIns="0" rIns="0" bIns="0" rtlCol="0" anchor="ctr"/>
          <a:lstStyle/>
          <a:p>
            <a:pPr indent="0" marL="0">
              <a:buNone/>
            </a:pPr>
            <a:r>
              <a:rPr lang="en-US" sz="1600" i="1" dirty="0">
                <a:solidFill>
                  <a:srgbClr val="0D5F68"/>
                </a:solidFill>
                <a:latin typeface="Cambria" pitchFamily="34" charset="0"/>
                <a:ea typeface="Cambria" pitchFamily="34" charset="-122"/>
                <a:cs typeface="Cambria" pitchFamily="34" charset="-120"/>
              </a:rPr>
              <a:t>Before 2023, no method held all three at once.</a:t>
            </a:r>
            <a:endParaRPr lang="en-US" sz="1600" dirty="0"/>
          </a:p>
        </p:txBody>
      </p:sp>
      <p:sp>
        <p:nvSpPr>
          <p:cNvPr id="14" name="Text 12"/>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 · Radiance fields</a:t>
            </a:r>
            <a:endParaRPr lang="en-US" sz="950" dirty="0"/>
          </a:p>
        </p:txBody>
      </p:sp>
      <p:sp>
        <p:nvSpPr>
          <p:cNvPr id="15" name="Text 13"/>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THE SHARED FOUNDATION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image-formation model, two renderers</a:t>
            </a:r>
            <a:endParaRPr lang="en-US" sz="3200" dirty="0"/>
          </a:p>
        </p:txBody>
      </p:sp>
      <p:sp>
        <p:nvSpPr>
          <p:cNvPr id="4" name="Shape 2"/>
          <p:cNvSpPr/>
          <p:nvPr/>
        </p:nvSpPr>
        <p:spPr>
          <a:xfrm>
            <a:off x="640080" y="1783080"/>
            <a:ext cx="5212080" cy="1371600"/>
          </a:xfrm>
          <a:prstGeom prst="rect">
            <a:avLst/>
          </a:prstGeom>
          <a:solidFill>
            <a:srgbClr val="18202E"/>
          </a:solidFill>
          <a:ln w="9525">
            <a:solidFill>
              <a:srgbClr val="2A3546"/>
            </a:solidFill>
            <a:prstDash val="solid"/>
          </a:ln>
        </p:spPr>
      </p:sp>
      <p:sp>
        <p:nvSpPr>
          <p:cNvPr id="5" name="Text 3"/>
          <p:cNvSpPr txBox="1"/>
          <p:nvPr/>
        </p:nvSpPr>
        <p:spPr>
          <a:xfrm>
            <a:off x="914400" y="1984248"/>
            <a:ext cx="4663440" cy="969264"/>
          </a:xfrm>
          <a:prstGeom prst="rect">
            <a:avLst/>
          </a:prstGeom>
          <a:noFill/>
          <a:ln/>
        </p:spPr>
        <p:txBody>
          <a:bodyPr wrap="square" lIns="0" tIns="0" rIns="0" bIns="0" rtlCol="0" anchor="t"/>
          <a:lstStyle/>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Volumetric ray-marching (NeRF)</a:t>
            </a:r>
            <a:endParaRPr lang="en-US" sz="1300" dirty="0"/>
          </a:p>
          <a:p>
            <a:pPr indent="0" marL="0">
              <a:lnSpc>
                <a:spcPts val="2100"/>
              </a:lnSpc>
              <a:buNone/>
            </a:pP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C = Σ  T_i (1 − exp(−σ_i δ_i)) c_i</a:t>
            </a:r>
            <a:endParaRPr lang="en-US" sz="1300" dirty="0"/>
          </a:p>
        </p:txBody>
      </p:sp>
      <p:sp>
        <p:nvSpPr>
          <p:cNvPr id="6" name="Shape 4"/>
          <p:cNvSpPr/>
          <p:nvPr/>
        </p:nvSpPr>
        <p:spPr>
          <a:xfrm>
            <a:off x="6309360" y="1783080"/>
            <a:ext cx="5212080" cy="1371600"/>
          </a:xfrm>
          <a:prstGeom prst="rect">
            <a:avLst/>
          </a:prstGeom>
          <a:solidFill>
            <a:srgbClr val="18202E"/>
          </a:solidFill>
          <a:ln w="9525">
            <a:solidFill>
              <a:srgbClr val="2A3546"/>
            </a:solidFill>
            <a:prstDash val="solid"/>
          </a:ln>
        </p:spPr>
      </p:sp>
      <p:sp>
        <p:nvSpPr>
          <p:cNvPr id="7" name="Text 5"/>
          <p:cNvSpPr txBox="1"/>
          <p:nvPr/>
        </p:nvSpPr>
        <p:spPr>
          <a:xfrm>
            <a:off x="6583680" y="1984248"/>
            <a:ext cx="4663440" cy="969264"/>
          </a:xfrm>
          <a:prstGeom prst="rect">
            <a:avLst/>
          </a:prstGeom>
          <a:noFill/>
          <a:ln/>
        </p:spPr>
        <p:txBody>
          <a:bodyPr wrap="square" lIns="0" tIns="0" rIns="0" bIns="0" rtlCol="0" anchor="t"/>
          <a:lstStyle/>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Point-based α-blending (splatting)</a:t>
            </a:r>
            <a:endParaRPr lang="en-US" sz="1300" dirty="0"/>
          </a:p>
          <a:p>
            <a:pPr indent="0" marL="0">
              <a:lnSpc>
                <a:spcPts val="2100"/>
              </a:lnSpc>
              <a:buNone/>
            </a:pP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C = Σ  c_i α_i Π (1 − α_j)</a:t>
            </a:r>
            <a:endParaRPr lang="en-US" sz="1300" dirty="0"/>
          </a:p>
        </p:txBody>
      </p:sp>
      <p:sp>
        <p:nvSpPr>
          <p:cNvPr id="8" name="Text 6"/>
          <p:cNvSpPr txBox="1"/>
          <p:nvPr/>
        </p:nvSpPr>
        <p:spPr>
          <a:xfrm>
            <a:off x="640080" y="3429000"/>
            <a:ext cx="10881360" cy="411480"/>
          </a:xfrm>
          <a:prstGeom prst="rect">
            <a:avLst/>
          </a:prstGeom>
          <a:noFill/>
          <a:ln/>
        </p:spPr>
        <p:txBody>
          <a:bodyPr wrap="square" lIns="0" tIns="0" rIns="0" bIns="0" rtlCol="0" anchor="ctr"/>
          <a:lstStyle/>
          <a:p>
            <a:pPr indent="0" marL="0">
              <a:buNone/>
            </a:pPr>
            <a:r>
              <a:rPr lang="en-US" sz="2400" b="1" dirty="0">
                <a:solidFill>
                  <a:srgbClr val="E9814F"/>
                </a:solidFill>
                <a:latin typeface="Cambria" pitchFamily="34" charset="0"/>
                <a:ea typeface="Cambria" pitchFamily="34" charset="-122"/>
                <a:cs typeface="Cambria" pitchFamily="34" charset="-120"/>
              </a:rPr>
              <a:t>These are the same equation.</a:t>
            </a:r>
            <a:endParaRPr lang="en-US" sz="2400" dirty="0"/>
          </a:p>
        </p:txBody>
      </p:sp>
      <p:sp>
        <p:nvSpPr>
          <p:cNvPr id="9" name="Text 7"/>
          <p:cNvSpPr txBox="1"/>
          <p:nvPr/>
        </p:nvSpPr>
        <p:spPr>
          <a:xfrm>
            <a:off x="640080" y="393192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Setting α_i = 1 − exp(−σ_i δ_i) turns the first into the second exactly (Kerbl et al., Eqs. 1–3).</a:t>
            </a:r>
            <a:endParaRPr lang="en-US" sz="1450" dirty="0"/>
          </a:p>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So the difference between NeRF and 3DGS is not the physics — it is how the samples along a ray are found.</a:t>
            </a:r>
            <a:endParaRPr lang="en-US" sz="1450" dirty="0"/>
          </a:p>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NeRF: stochastic sampling of a continuous field. Expensive, noisy, but easy to optimise.</a:t>
            </a:r>
            <a:endParaRPr lang="en-US" sz="1450" dirty="0"/>
          </a:p>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Splatting: an explicit, sorted list of primitives that actually overlap the pixel. Cheap, exact, but the primitives must be created and destroyed by some other mechanism.</a:t>
            </a:r>
            <a:endParaRPr lang="en-US" sz="1450" dirty="0"/>
          </a:p>
        </p:txBody>
      </p:sp>
      <p:sp>
        <p:nvSpPr>
          <p:cNvPr id="10" name="Text 8"/>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 · Radiance fields</a:t>
            </a:r>
            <a:endParaRPr lang="en-US" sz="950" dirty="0"/>
          </a:p>
        </p:txBody>
      </p:sp>
      <p:sp>
        <p:nvSpPr>
          <p:cNvPr id="11" name="Text 9"/>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PRIOR WORK</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NeRF (2020): quality at an unusable price</a:t>
            </a:r>
            <a:endParaRPr lang="en-US" sz="3200" dirty="0"/>
          </a:p>
        </p:txBody>
      </p:sp>
      <p:sp>
        <p:nvSpPr>
          <p:cNvPr id="4" name="Text 2"/>
          <p:cNvSpPr txBox="1"/>
          <p:nvPr/>
        </p:nvSpPr>
        <p:spPr>
          <a:xfrm>
            <a:off x="640080" y="1783080"/>
            <a:ext cx="667512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An MLP maps (position, view direction) → (density, colour). The scene lives in the network weights.</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Rendering marches rays and queries the MLP hundreds of times per pixel.</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Positional encoding and hierarchical importance sampling made it work; the MLP made it slow.</a:t>
            </a:r>
            <a:endParaRPr lang="en-US" sz="1500" dirty="0"/>
          </a:p>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Mip-NeRF 360 (2022) took the quality crown — and needed up to 48 hours of training and roughly 10 s per rendered frame.</a:t>
            </a:r>
            <a:endParaRPr lang="en-US" sz="1500" dirty="0"/>
          </a:p>
        </p:txBody>
      </p:sp>
      <p:sp>
        <p:nvSpPr>
          <p:cNvPr id="5" name="Shape 3"/>
          <p:cNvSpPr/>
          <p:nvPr/>
        </p:nvSpPr>
        <p:spPr>
          <a:xfrm>
            <a:off x="7635240" y="1783080"/>
            <a:ext cx="3886200" cy="2560320"/>
          </a:xfrm>
          <a:prstGeom prst="roundRect">
            <a:avLst>
              <a:gd name="adj" fmla="val 2143"/>
            </a:avLst>
          </a:prstGeom>
          <a:solidFill>
            <a:srgbClr val="F1F4F8"/>
          </a:solidFill>
          <a:ln w="9525">
            <a:solidFill>
              <a:srgbClr val="D5DCE5"/>
            </a:solidFill>
            <a:prstDash val="solid"/>
          </a:ln>
        </p:spPr>
      </p:sp>
      <p:sp>
        <p:nvSpPr>
          <p:cNvPr id="6" name="Text 4"/>
          <p:cNvSpPr txBox="1"/>
          <p:nvPr/>
        </p:nvSpPr>
        <p:spPr>
          <a:xfrm>
            <a:off x="7891272" y="2057400"/>
            <a:ext cx="3383280" cy="822960"/>
          </a:xfrm>
          <a:prstGeom prst="rect">
            <a:avLst/>
          </a:prstGeom>
          <a:noFill/>
          <a:ln/>
        </p:spPr>
        <p:txBody>
          <a:bodyPr wrap="square" lIns="0" tIns="0" rIns="0" bIns="0" rtlCol="0" anchor="ctr"/>
          <a:lstStyle/>
          <a:p>
            <a:pPr indent="0" marL="0">
              <a:buNone/>
            </a:pPr>
            <a:r>
              <a:rPr lang="en-US" sz="5800" b="1" dirty="0">
                <a:solidFill>
                  <a:srgbClr val="C2582B"/>
                </a:solidFill>
                <a:latin typeface="Cambria" pitchFamily="34" charset="0"/>
                <a:ea typeface="Cambria" pitchFamily="34" charset="-122"/>
                <a:cs typeface="Cambria" pitchFamily="34" charset="-120"/>
              </a:rPr>
              <a:t>48 h</a:t>
            </a:r>
            <a:endParaRPr lang="en-US" sz="5800" dirty="0"/>
          </a:p>
        </p:txBody>
      </p:sp>
      <p:sp>
        <p:nvSpPr>
          <p:cNvPr id="7" name="Text 5"/>
          <p:cNvSpPr txBox="1"/>
          <p:nvPr/>
        </p:nvSpPr>
        <p:spPr>
          <a:xfrm>
            <a:off x="7891272" y="2971800"/>
            <a:ext cx="3383280" cy="1097280"/>
          </a:xfrm>
          <a:prstGeom prst="rect">
            <a:avLst/>
          </a:prstGeom>
          <a:noFill/>
          <a:ln/>
        </p:spPr>
        <p:txBody>
          <a:bodyPr wrap="square" lIns="0" tIns="0" rIns="0" bIns="0" rtlCol="0" anchor="ctr"/>
          <a:lstStyle/>
          <a:p>
            <a:pPr indent="0" marL="0">
              <a:lnSpc>
                <a:spcPts val="1800"/>
              </a:lnSpc>
              <a:buNone/>
            </a:pPr>
            <a:r>
              <a:rPr lang="en-US" sz="1250" dirty="0">
                <a:solidFill>
                  <a:srgbClr val="5B6B80"/>
                </a:solidFill>
                <a:latin typeface="Calibri" pitchFamily="34" charset="0"/>
                <a:ea typeface="Calibri" pitchFamily="34" charset="-122"/>
                <a:cs typeface="Calibri" pitchFamily="34" charset="-120"/>
              </a:rPr>
              <a:t>Mip-NeRF 360 training time per scene. Rendering runs at 0.06 fps — about 17 s per frame.</a:t>
            </a:r>
            <a:endParaRPr lang="en-US" sz="1250" dirty="0"/>
          </a:p>
          <a:p>
            <a:pPr indent="0" marL="0">
              <a:lnSpc>
                <a:spcPts val="1800"/>
              </a:lnSpc>
              <a:buNone/>
            </a:pPr>
            <a:r>
              <a:rPr lang="en-US" sz="1250" dirty="0">
                <a:solidFill>
                  <a:srgbClr val="5B6B80"/>
                </a:solidFill>
                <a:latin typeface="Calibri" pitchFamily="34" charset="0"/>
                <a:ea typeface="Calibri" pitchFamily="34" charset="-122"/>
                <a:cs typeface="Calibri" pitchFamily="34" charset="-120"/>
              </a:rPr>
              <a:t>Quality was never the problem.</a:t>
            </a:r>
            <a:endParaRPr lang="en-US" sz="1250" dirty="0"/>
          </a:p>
        </p:txBody>
      </p:sp>
      <p:sp>
        <p:nvSpPr>
          <p:cNvPr id="8" name="Text 6"/>
          <p:cNvSpPr txBox="1"/>
          <p:nvPr/>
        </p:nvSpPr>
        <p:spPr>
          <a:xfrm>
            <a:off x="640080" y="4892040"/>
            <a:ext cx="10881360" cy="777240"/>
          </a:xfrm>
          <a:prstGeom prst="rect">
            <a:avLst/>
          </a:prstGeom>
          <a:noFill/>
          <a:ln/>
        </p:spPr>
        <p:txBody>
          <a:bodyPr wrap="square" lIns="0" tIns="0" rIns="0" bIns="0" rtlCol="0" anchor="ctr"/>
          <a:lstStyle/>
          <a:p>
            <a:pPr indent="0" marL="0">
              <a:lnSpc>
                <a:spcPts val="2500"/>
              </a:lnSpc>
              <a:buNone/>
            </a:pPr>
            <a:r>
              <a:rPr lang="en-US" sz="1600" i="1" dirty="0">
                <a:solidFill>
                  <a:srgbClr val="0D5F68"/>
                </a:solidFill>
                <a:latin typeface="Cambria" pitchFamily="34" charset="0"/>
                <a:ea typeface="Cambria" pitchFamily="34" charset="-122"/>
                <a:cs typeface="Cambria" pitchFamily="34" charset="-120"/>
              </a:rPr>
              <a:t>“We believe the benefit of increasing L is limited once 2ᴸ exceeds the maximum frequency present in the sampled input images.”  — NeRF §6.4</a:t>
            </a:r>
            <a:endParaRPr lang="en-US" sz="1600" dirty="0"/>
          </a:p>
        </p:txBody>
      </p:sp>
      <p:sp>
        <p:nvSpPr>
          <p:cNvPr id="9" name="Text 7"/>
          <p:cNvSpPr txBox="1"/>
          <p:nvPr/>
        </p:nvSpPr>
        <p:spPr>
          <a:xfrm>
            <a:off x="640080" y="5715000"/>
            <a:ext cx="10881360" cy="457200"/>
          </a:xfrm>
          <a:prstGeom prst="rect">
            <a:avLst/>
          </a:prstGeom>
          <a:noFill/>
          <a:ln/>
        </p:spPr>
        <p:txBody>
          <a:bodyPr wrap="square" lIns="0" tIns="0" rIns="0" bIns="0" rtlCol="0" anchor="ctr"/>
          <a:lstStyle/>
          <a:p>
            <a:pPr indent="0" marL="0">
              <a:lnSpc>
                <a:spcPts val="1700"/>
              </a:lnSpc>
              <a:buNone/>
            </a:pPr>
            <a:r>
              <a:rPr lang="en-US" sz="1250" dirty="0">
                <a:solidFill>
                  <a:srgbClr val="5B6B80"/>
                </a:solidFill>
                <a:latin typeface="Calibri" pitchFamily="34" charset="0"/>
                <a:ea typeface="Calibri" pitchFamily="34" charset="-122"/>
                <a:cs typeface="Calibri" pitchFamily="34" charset="-120"/>
              </a:rPr>
              <a:t>NeRF has a band-limit, its authors know it is a sampling limit, and they set it as one global constant. Remember this sentence — the whole proposal grows from it.</a:t>
            </a:r>
            <a:endParaRPr lang="en-US" sz="1250" dirty="0"/>
          </a:p>
        </p:txBody>
      </p:sp>
      <p:sp>
        <p:nvSpPr>
          <p:cNvPr id="10" name="Text 8"/>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 · Radiance fields</a:t>
            </a:r>
            <a:endParaRPr lang="en-US" sz="950" dirty="0"/>
          </a:p>
        </p:txBody>
      </p:sp>
      <p:sp>
        <p:nvSpPr>
          <p:cNvPr id="11" name="Text 9"/>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PRIOR WORK</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Making it fast: put the field in a data structure</a:t>
            </a:r>
            <a:endParaRPr lang="en-US" sz="3200" dirty="0"/>
          </a:p>
        </p:txBody>
      </p:sp>
      <p:sp>
        <p:nvSpPr>
          <p:cNvPr id="4" name="Shape 2"/>
          <p:cNvSpPr/>
          <p:nvPr/>
        </p:nvSpPr>
        <p:spPr>
          <a:xfrm>
            <a:off x="640080" y="1783080"/>
            <a:ext cx="5349240" cy="1874520"/>
          </a:xfrm>
          <a:prstGeom prst="roundRect">
            <a:avLst>
              <a:gd name="adj" fmla="val 2927"/>
            </a:avLst>
          </a:prstGeom>
          <a:solidFill>
            <a:srgbClr val="F1F4F8"/>
          </a:solidFill>
          <a:ln w="9525">
            <a:solidFill>
              <a:srgbClr val="D5DCE5"/>
            </a:solidFill>
            <a:prstDash val="solid"/>
          </a:ln>
        </p:spPr>
      </p:sp>
      <p:sp>
        <p:nvSpPr>
          <p:cNvPr id="5" name="Text 3"/>
          <p:cNvSpPr txBox="1"/>
          <p:nvPr/>
        </p:nvSpPr>
        <p:spPr>
          <a:xfrm>
            <a:off x="896112" y="1984248"/>
            <a:ext cx="483717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Plenoxels (2022)</a:t>
            </a:r>
            <a:endParaRPr lang="en-US" sz="1350" dirty="0"/>
          </a:p>
        </p:txBody>
      </p:sp>
      <p:sp>
        <p:nvSpPr>
          <p:cNvPr id="6" name="Text 4"/>
          <p:cNvSpPr txBox="1"/>
          <p:nvPr/>
        </p:nvSpPr>
        <p:spPr>
          <a:xfrm>
            <a:off x="896112" y="2350008"/>
            <a:ext cx="483717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A sparse voxel grid storing density and spherical-harmonic colour, trilinearly interpolated. No neural network at all — proof that the MLP was never the essential part.</a:t>
            </a:r>
            <a:endParaRPr lang="en-US" sz="1200" dirty="0"/>
          </a:p>
        </p:txBody>
      </p:sp>
      <p:sp>
        <p:nvSpPr>
          <p:cNvPr id="7" name="Shape 5"/>
          <p:cNvSpPr/>
          <p:nvPr/>
        </p:nvSpPr>
        <p:spPr>
          <a:xfrm>
            <a:off x="6263640" y="1783080"/>
            <a:ext cx="5257800" cy="1874520"/>
          </a:xfrm>
          <a:prstGeom prst="roundRect">
            <a:avLst>
              <a:gd name="adj" fmla="val 2927"/>
            </a:avLst>
          </a:prstGeom>
          <a:solidFill>
            <a:srgbClr val="F1F4F8"/>
          </a:solidFill>
          <a:ln w="9525">
            <a:solidFill>
              <a:srgbClr val="D5DCE5"/>
            </a:solidFill>
            <a:prstDash val="solid"/>
          </a:ln>
        </p:spPr>
      </p:sp>
      <p:sp>
        <p:nvSpPr>
          <p:cNvPr id="8" name="Text 6"/>
          <p:cNvSpPr txBox="1"/>
          <p:nvPr/>
        </p:nvSpPr>
        <p:spPr>
          <a:xfrm>
            <a:off x="6519672" y="1984248"/>
            <a:ext cx="474573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Instant-NGP (2022)</a:t>
            </a:r>
            <a:endParaRPr lang="en-US" sz="1350" dirty="0"/>
          </a:p>
        </p:txBody>
      </p:sp>
      <p:sp>
        <p:nvSpPr>
          <p:cNvPr id="9" name="Text 7"/>
          <p:cNvSpPr txBox="1"/>
          <p:nvPr/>
        </p:nvSpPr>
        <p:spPr>
          <a:xfrm>
            <a:off x="6519672" y="2350008"/>
            <a:ext cx="474573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A multi-resolution hash encoding feeding a tiny MLP, with an occupancy grid to skip empty space. Training in minutes instead of days.</a:t>
            </a:r>
            <a:endParaRPr lang="en-US" sz="1200" dirty="0"/>
          </a:p>
        </p:txBody>
      </p:sp>
      <p:sp>
        <p:nvSpPr>
          <p:cNvPr id="10" name="Text 8"/>
          <p:cNvSpPr txBox="1"/>
          <p:nvPr/>
        </p:nvSpPr>
        <p:spPr>
          <a:xfrm>
            <a:off x="640080" y="4069080"/>
            <a:ext cx="10881360" cy="365760"/>
          </a:xfrm>
          <a:prstGeom prst="rect">
            <a:avLst/>
          </a:prstGeom>
          <a:noFill/>
          <a:ln/>
        </p:spPr>
        <p:txBody>
          <a:bodyPr wrap="square" lIns="0" tIns="0" rIns="0" bIns="0" rtlCol="0" anchor="ctr"/>
          <a:lstStyle/>
          <a:p>
            <a:pPr indent="0" marL="0">
              <a:buNone/>
            </a:pPr>
            <a:r>
              <a:rPr lang="en-US" sz="1200" b="1" spc="160" kern="0" dirty="0">
                <a:solidFill>
                  <a:srgbClr val="5B6B80"/>
                </a:solidFill>
                <a:latin typeface="Calibri" pitchFamily="34" charset="0"/>
                <a:ea typeface="Calibri" pitchFamily="34" charset="-122"/>
                <a:cs typeface="Calibri" pitchFamily="34" charset="-120"/>
              </a:rPr>
              <a:t>What they bought, and what they paid</a:t>
            </a:r>
            <a:endParaRPr lang="en-US" sz="1200" dirty="0"/>
          </a:p>
        </p:txBody>
      </p:sp>
      <p:sp>
        <p:nvSpPr>
          <p:cNvPr id="11" name="Text 9"/>
          <p:cNvSpPr txBox="1"/>
          <p:nvPr/>
        </p:nvSpPr>
        <p:spPr>
          <a:xfrm>
            <a:off x="640080" y="443484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Training fell to 5–8 minutes, but rendering stayed at 3–17 fps depending on the dataset — interactive, not real-time.</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Quality plateaued 2.1 dB (Instant-NGP Big) and 4.6 dB (Plenoxels) below Mip-NeRF 360 on its own dataset; the grid structure caps achievable detail.</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Both still ray-march: many samples per pixel, most of them in empty space.</a:t>
            </a:r>
            <a:endParaRPr lang="en-US" sz="1450" dirty="0"/>
          </a:p>
        </p:txBody>
      </p:sp>
      <p:sp>
        <p:nvSpPr>
          <p:cNvPr id="12" name="Text 10"/>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 · Radiance fields</a:t>
            </a:r>
            <a:endParaRPr lang="en-US" sz="950" dirty="0"/>
          </a:p>
        </p:txBody>
      </p:sp>
      <p:sp>
        <p:nvSpPr>
          <p:cNvPr id="13" name="Text 11"/>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2286000"/>
            <a:ext cx="10881360" cy="320040"/>
          </a:xfrm>
          <a:prstGeom prst="rect">
            <a:avLst/>
          </a:prstGeom>
          <a:noFill/>
          <a:ln/>
        </p:spPr>
        <p:txBody>
          <a:bodyPr wrap="square" lIns="0" tIns="0" rIns="0" bIns="0" rtlCol="0" anchor="ctr"/>
          <a:lstStyle/>
          <a:p>
            <a:pPr indent="0" marL="0">
              <a:buNone/>
            </a:pPr>
            <a:r>
              <a:rPr lang="en-US" sz="1200" b="1" spc="260" kern="0" dirty="0">
                <a:solidFill>
                  <a:srgbClr val="E9814F"/>
                </a:solidFill>
                <a:latin typeface="Calibri" pitchFamily="34" charset="0"/>
                <a:ea typeface="Calibri" pitchFamily="34" charset="-122"/>
                <a:cs typeface="Calibri" pitchFamily="34" charset="-120"/>
              </a:rPr>
              <a:t>PART II</a:t>
            </a:r>
            <a:endParaRPr lang="en-US" sz="1200" dirty="0"/>
          </a:p>
        </p:txBody>
      </p:sp>
      <p:sp>
        <p:nvSpPr>
          <p:cNvPr id="3" name="Text 1"/>
          <p:cNvSpPr txBox="1"/>
          <p:nvPr/>
        </p:nvSpPr>
        <p:spPr>
          <a:xfrm>
            <a:off x="640080" y="2697480"/>
            <a:ext cx="108813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3D Gaussian Splatting</a:t>
            </a:r>
            <a:endParaRPr lang="en-US" sz="4400" dirty="0"/>
          </a:p>
        </p:txBody>
      </p:sp>
      <p:sp>
        <p:nvSpPr>
          <p:cNvPr id="4" name="Text 2"/>
          <p:cNvSpPr txBox="1"/>
          <p:nvPr/>
        </p:nvSpPr>
        <p:spPr>
          <a:xfrm>
            <a:off x="640080" y="3703320"/>
            <a:ext cx="8778240" cy="822960"/>
          </a:xfrm>
          <a:prstGeom prst="rect">
            <a:avLst/>
          </a:prstGeom>
          <a:noFill/>
          <a:ln/>
        </p:spPr>
        <p:txBody>
          <a:bodyPr wrap="square" lIns="0" tIns="0" rIns="0" bIns="0" rtlCol="0" anchor="ctr"/>
          <a:lstStyle/>
          <a:p>
            <a:pPr indent="0" marL="0">
              <a:lnSpc>
                <a:spcPts val="2700"/>
              </a:lnSpc>
              <a:buNone/>
            </a:pPr>
            <a:r>
              <a:rPr lang="en-US" sz="1700" i="1" dirty="0">
                <a:solidFill>
                  <a:srgbClr val="9DACC0"/>
                </a:solidFill>
                <a:latin typeface="Cambria" pitchFamily="34" charset="0"/>
                <a:ea typeface="Cambria" pitchFamily="34" charset="-122"/>
                <a:cs typeface="Cambria" pitchFamily="34" charset="-120"/>
              </a:rPr>
              <a:t>Kerbl, Kopanas, Leimkühler &amp; Drettakis · SIGGRAPH 2023</a:t>
            </a:r>
            <a:endParaRPr lang="en-US" sz="1700" dirty="0"/>
          </a:p>
          <a:p>
            <a:pPr indent="0" marL="0">
              <a:lnSpc>
                <a:spcPts val="2700"/>
              </a:lnSpc>
              <a:buNone/>
            </a:pPr>
            <a:r>
              <a:rPr lang="en-US" sz="1700" i="1" dirty="0">
                <a:solidFill>
                  <a:srgbClr val="9DACC0"/>
                </a:solidFill>
                <a:latin typeface="Cambria" pitchFamily="34" charset="0"/>
                <a:ea typeface="Cambria" pitchFamily="34" charset="-122"/>
                <a:cs typeface="Cambria" pitchFamily="34" charset="-120"/>
              </a:rPr>
              <a:t>The first method to hold quality, training speed and real-time rendering simultaneously.</a:t>
            </a:r>
            <a:endParaRPr lang="en-US" sz="1700" dirty="0"/>
          </a:p>
        </p:txBody>
      </p:sp>
      <p:sp>
        <p:nvSpPr>
          <p:cNvPr id="5"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endParaRPr lang="en-US" sz="950" dirty="0"/>
          </a:p>
        </p:txBody>
      </p:sp>
      <p:sp>
        <p:nvSpPr>
          <p:cNvPr id="6"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3DGS · REPRESENTATION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The primitive</a:t>
            </a:r>
            <a:endParaRPr lang="en-US" sz="3200" dirty="0"/>
          </a:p>
        </p:txBody>
      </p:sp>
      <p:sp>
        <p:nvSpPr>
          <p:cNvPr id="4" name="Shape 2"/>
          <p:cNvSpPr/>
          <p:nvPr/>
        </p:nvSpPr>
        <p:spPr>
          <a:xfrm>
            <a:off x="640080" y="1737360"/>
            <a:ext cx="5943600" cy="822960"/>
          </a:xfrm>
          <a:prstGeom prst="rect">
            <a:avLst/>
          </a:prstGeom>
          <a:solidFill>
            <a:srgbClr val="F1F4F8"/>
          </a:solidFill>
          <a:ln w="9525">
            <a:solidFill>
              <a:srgbClr val="D5DCE5"/>
            </a:solidFill>
            <a:prstDash val="solid"/>
          </a:ln>
        </p:spPr>
      </p:sp>
      <p:sp>
        <p:nvSpPr>
          <p:cNvPr id="5" name="Text 3"/>
          <p:cNvSpPr txBox="1"/>
          <p:nvPr/>
        </p:nvSpPr>
        <p:spPr>
          <a:xfrm>
            <a:off x="914400" y="1938528"/>
            <a:ext cx="5394960" cy="420624"/>
          </a:xfrm>
          <a:prstGeom prst="rect">
            <a:avLst/>
          </a:prstGeom>
          <a:noFill/>
          <a:ln/>
        </p:spPr>
        <p:txBody>
          <a:bodyPr wrap="square" lIns="0" tIns="0" rIns="0" bIns="0" rtlCol="0" anchor="t"/>
          <a:lstStyle/>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G(x) = exp( −½ (x−μ)ᵀ Σ⁻¹ (x−μ) )</a:t>
            </a:r>
            <a:endParaRPr lang="en-US" sz="1300" dirty="0"/>
          </a:p>
        </p:txBody>
      </p:sp>
      <p:sp>
        <p:nvSpPr>
          <p:cNvPr id="6" name="Text 4"/>
          <p:cNvSpPr txBox="1"/>
          <p:nvPr/>
        </p:nvSpPr>
        <p:spPr>
          <a:xfrm>
            <a:off x="640080" y="2971800"/>
            <a:ext cx="2286000" cy="292608"/>
          </a:xfrm>
          <a:prstGeom prst="rect">
            <a:avLst/>
          </a:prstGeom>
          <a:noFill/>
          <a:ln/>
        </p:spPr>
        <p:txBody>
          <a:bodyPr wrap="square" lIns="0" tIns="0" rIns="0" bIns="0" rtlCol="0" anchor="ctr"/>
          <a:lstStyle/>
          <a:p>
            <a:pPr indent="0" marL="0">
              <a:buNone/>
            </a:pPr>
            <a:r>
              <a:rPr lang="en-US" sz="1300" b="1" dirty="0">
                <a:solidFill>
                  <a:srgbClr val="C2582B"/>
                </a:solidFill>
                <a:latin typeface="Courier New" pitchFamily="34" charset="0"/>
                <a:ea typeface="Courier New" pitchFamily="34" charset="-122"/>
                <a:cs typeface="Courier New" pitchFamily="34" charset="-120"/>
              </a:rPr>
              <a:t>μ ∈ ℝ³</a:t>
            </a:r>
            <a:endParaRPr lang="en-US" sz="1300" dirty="0"/>
          </a:p>
        </p:txBody>
      </p:sp>
      <p:sp>
        <p:nvSpPr>
          <p:cNvPr id="7" name="Text 5"/>
          <p:cNvSpPr txBox="1"/>
          <p:nvPr/>
        </p:nvSpPr>
        <p:spPr>
          <a:xfrm>
            <a:off x="2971800" y="2971800"/>
            <a:ext cx="2606040" cy="292608"/>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position (mean)</a:t>
            </a:r>
            <a:endParaRPr lang="en-US" sz="1250" dirty="0"/>
          </a:p>
        </p:txBody>
      </p:sp>
      <p:sp>
        <p:nvSpPr>
          <p:cNvPr id="8" name="Text 6"/>
          <p:cNvSpPr txBox="1"/>
          <p:nvPr/>
        </p:nvSpPr>
        <p:spPr>
          <a:xfrm>
            <a:off x="5577840" y="2971800"/>
            <a:ext cx="1005840" cy="292608"/>
          </a:xfrm>
          <a:prstGeom prst="rect">
            <a:avLst/>
          </a:prstGeom>
          <a:noFill/>
          <a:ln/>
        </p:spPr>
        <p:txBody>
          <a:bodyPr wrap="square" lIns="0" tIns="0" rIns="0" bIns="0" rtlCol="0" anchor="ctr"/>
          <a:lstStyle/>
          <a:p>
            <a:pPr algn="r" indent="0" marL="0">
              <a:buNone/>
            </a:pPr>
            <a:r>
              <a:rPr lang="en-US" sz="1250" b="1" dirty="0">
                <a:solidFill>
                  <a:srgbClr val="16202F"/>
                </a:solidFill>
                <a:latin typeface="Calibri" pitchFamily="34" charset="0"/>
                <a:ea typeface="Calibri" pitchFamily="34" charset="-122"/>
                <a:cs typeface="Calibri" pitchFamily="34" charset="-120"/>
              </a:rPr>
              <a:t>3 floats</a:t>
            </a:r>
            <a:endParaRPr lang="en-US" sz="1250" dirty="0"/>
          </a:p>
        </p:txBody>
      </p:sp>
      <p:sp>
        <p:nvSpPr>
          <p:cNvPr id="9" name="Text 7"/>
          <p:cNvSpPr txBox="1"/>
          <p:nvPr/>
        </p:nvSpPr>
        <p:spPr>
          <a:xfrm>
            <a:off x="640080" y="3429000"/>
            <a:ext cx="2286000" cy="292608"/>
          </a:xfrm>
          <a:prstGeom prst="rect">
            <a:avLst/>
          </a:prstGeom>
          <a:noFill/>
          <a:ln/>
        </p:spPr>
        <p:txBody>
          <a:bodyPr wrap="square" lIns="0" tIns="0" rIns="0" bIns="0" rtlCol="0" anchor="ctr"/>
          <a:lstStyle/>
          <a:p>
            <a:pPr indent="0" marL="0">
              <a:buNone/>
            </a:pPr>
            <a:r>
              <a:rPr lang="en-US" sz="1300" b="1" dirty="0">
                <a:solidFill>
                  <a:srgbClr val="C2582B"/>
                </a:solidFill>
                <a:latin typeface="Courier New" pitchFamily="34" charset="0"/>
                <a:ea typeface="Courier New" pitchFamily="34" charset="-122"/>
                <a:cs typeface="Courier New" pitchFamily="34" charset="-120"/>
              </a:rPr>
              <a:t>s ∈ ℝ³, q ∈ ℝ⁴</a:t>
            </a:r>
            <a:endParaRPr lang="en-US" sz="1300" dirty="0"/>
          </a:p>
        </p:txBody>
      </p:sp>
      <p:sp>
        <p:nvSpPr>
          <p:cNvPr id="10" name="Text 8"/>
          <p:cNvSpPr txBox="1"/>
          <p:nvPr/>
        </p:nvSpPr>
        <p:spPr>
          <a:xfrm>
            <a:off x="2971800" y="3429000"/>
            <a:ext cx="2606040" cy="292608"/>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scale vector and rotation quaternion</a:t>
            </a:r>
            <a:endParaRPr lang="en-US" sz="1250" dirty="0"/>
          </a:p>
        </p:txBody>
      </p:sp>
      <p:sp>
        <p:nvSpPr>
          <p:cNvPr id="11" name="Text 9"/>
          <p:cNvSpPr txBox="1"/>
          <p:nvPr/>
        </p:nvSpPr>
        <p:spPr>
          <a:xfrm>
            <a:off x="5577840" y="3429000"/>
            <a:ext cx="1005840" cy="292608"/>
          </a:xfrm>
          <a:prstGeom prst="rect">
            <a:avLst/>
          </a:prstGeom>
          <a:noFill/>
          <a:ln/>
        </p:spPr>
        <p:txBody>
          <a:bodyPr wrap="square" lIns="0" tIns="0" rIns="0" bIns="0" rtlCol="0" anchor="ctr"/>
          <a:lstStyle/>
          <a:p>
            <a:pPr algn="r" indent="0" marL="0">
              <a:buNone/>
            </a:pPr>
            <a:r>
              <a:rPr lang="en-US" sz="1250" b="1" dirty="0">
                <a:solidFill>
                  <a:srgbClr val="16202F"/>
                </a:solidFill>
                <a:latin typeface="Calibri" pitchFamily="34" charset="0"/>
                <a:ea typeface="Calibri" pitchFamily="34" charset="-122"/>
                <a:cs typeface="Calibri" pitchFamily="34" charset="-120"/>
              </a:rPr>
              <a:t>7 floats</a:t>
            </a:r>
            <a:endParaRPr lang="en-US" sz="1250" dirty="0"/>
          </a:p>
        </p:txBody>
      </p:sp>
      <p:sp>
        <p:nvSpPr>
          <p:cNvPr id="12" name="Text 10"/>
          <p:cNvSpPr txBox="1"/>
          <p:nvPr/>
        </p:nvSpPr>
        <p:spPr>
          <a:xfrm>
            <a:off x="640080" y="3886200"/>
            <a:ext cx="2286000" cy="292608"/>
          </a:xfrm>
          <a:prstGeom prst="rect">
            <a:avLst/>
          </a:prstGeom>
          <a:noFill/>
          <a:ln/>
        </p:spPr>
        <p:txBody>
          <a:bodyPr wrap="square" lIns="0" tIns="0" rIns="0" bIns="0" rtlCol="0" anchor="ctr"/>
          <a:lstStyle/>
          <a:p>
            <a:pPr indent="0" marL="0">
              <a:buNone/>
            </a:pPr>
            <a:r>
              <a:rPr lang="en-US" sz="1300" b="1" dirty="0">
                <a:solidFill>
                  <a:srgbClr val="C2582B"/>
                </a:solidFill>
                <a:latin typeface="Courier New" pitchFamily="34" charset="0"/>
                <a:ea typeface="Courier New" pitchFamily="34" charset="-122"/>
                <a:cs typeface="Courier New" pitchFamily="34" charset="-120"/>
              </a:rPr>
              <a:t>α ∈ ℝ</a:t>
            </a:r>
            <a:endParaRPr lang="en-US" sz="1300" dirty="0"/>
          </a:p>
        </p:txBody>
      </p:sp>
      <p:sp>
        <p:nvSpPr>
          <p:cNvPr id="13" name="Text 11"/>
          <p:cNvSpPr txBox="1"/>
          <p:nvPr/>
        </p:nvSpPr>
        <p:spPr>
          <a:xfrm>
            <a:off x="2971800" y="3886200"/>
            <a:ext cx="2606040" cy="292608"/>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opacity, through a sigmoid</a:t>
            </a:r>
            <a:endParaRPr lang="en-US" sz="1250" dirty="0"/>
          </a:p>
        </p:txBody>
      </p:sp>
      <p:sp>
        <p:nvSpPr>
          <p:cNvPr id="14" name="Text 12"/>
          <p:cNvSpPr txBox="1"/>
          <p:nvPr/>
        </p:nvSpPr>
        <p:spPr>
          <a:xfrm>
            <a:off x="5577840" y="3886200"/>
            <a:ext cx="1005840" cy="292608"/>
          </a:xfrm>
          <a:prstGeom prst="rect">
            <a:avLst/>
          </a:prstGeom>
          <a:noFill/>
          <a:ln/>
        </p:spPr>
        <p:txBody>
          <a:bodyPr wrap="square" lIns="0" tIns="0" rIns="0" bIns="0" rtlCol="0" anchor="ctr"/>
          <a:lstStyle/>
          <a:p>
            <a:pPr algn="r" indent="0" marL="0">
              <a:buNone/>
            </a:pPr>
            <a:r>
              <a:rPr lang="en-US" sz="1250" b="1" dirty="0">
                <a:solidFill>
                  <a:srgbClr val="16202F"/>
                </a:solidFill>
                <a:latin typeface="Calibri" pitchFamily="34" charset="0"/>
                <a:ea typeface="Calibri" pitchFamily="34" charset="-122"/>
                <a:cs typeface="Calibri" pitchFamily="34" charset="-120"/>
              </a:rPr>
              <a:t>1 float</a:t>
            </a:r>
            <a:endParaRPr lang="en-US" sz="1250" dirty="0"/>
          </a:p>
        </p:txBody>
      </p:sp>
      <p:sp>
        <p:nvSpPr>
          <p:cNvPr id="15" name="Text 13"/>
          <p:cNvSpPr txBox="1"/>
          <p:nvPr/>
        </p:nvSpPr>
        <p:spPr>
          <a:xfrm>
            <a:off x="640080" y="4343400"/>
            <a:ext cx="2286000" cy="292608"/>
          </a:xfrm>
          <a:prstGeom prst="rect">
            <a:avLst/>
          </a:prstGeom>
          <a:noFill/>
          <a:ln/>
        </p:spPr>
        <p:txBody>
          <a:bodyPr wrap="square" lIns="0" tIns="0" rIns="0" bIns="0" rtlCol="0" anchor="ctr"/>
          <a:lstStyle/>
          <a:p>
            <a:pPr indent="0" marL="0">
              <a:buNone/>
            </a:pPr>
            <a:r>
              <a:rPr lang="en-US" sz="1300" b="1" dirty="0">
                <a:solidFill>
                  <a:srgbClr val="C2582B"/>
                </a:solidFill>
                <a:latin typeface="Courier New" pitchFamily="34" charset="0"/>
                <a:ea typeface="Courier New" pitchFamily="34" charset="-122"/>
                <a:cs typeface="Courier New" pitchFamily="34" charset="-120"/>
              </a:rPr>
              <a:t>SH, degree 3</a:t>
            </a:r>
            <a:endParaRPr lang="en-US" sz="1300" dirty="0"/>
          </a:p>
        </p:txBody>
      </p:sp>
      <p:sp>
        <p:nvSpPr>
          <p:cNvPr id="16" name="Text 14"/>
          <p:cNvSpPr txBox="1"/>
          <p:nvPr/>
        </p:nvSpPr>
        <p:spPr>
          <a:xfrm>
            <a:off x="2971800" y="4343400"/>
            <a:ext cx="2606040" cy="292608"/>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view-dependent colour · 16 × 3</a:t>
            </a:r>
            <a:endParaRPr lang="en-US" sz="1250" dirty="0"/>
          </a:p>
        </p:txBody>
      </p:sp>
      <p:sp>
        <p:nvSpPr>
          <p:cNvPr id="17" name="Text 15"/>
          <p:cNvSpPr txBox="1"/>
          <p:nvPr/>
        </p:nvSpPr>
        <p:spPr>
          <a:xfrm>
            <a:off x="5577840" y="4343400"/>
            <a:ext cx="1005840" cy="292608"/>
          </a:xfrm>
          <a:prstGeom prst="rect">
            <a:avLst/>
          </a:prstGeom>
          <a:noFill/>
          <a:ln/>
        </p:spPr>
        <p:txBody>
          <a:bodyPr wrap="square" lIns="0" tIns="0" rIns="0" bIns="0" rtlCol="0" anchor="ctr"/>
          <a:lstStyle/>
          <a:p>
            <a:pPr algn="r" indent="0" marL="0">
              <a:buNone/>
            </a:pPr>
            <a:r>
              <a:rPr lang="en-US" sz="1250" b="1" dirty="0">
                <a:solidFill>
                  <a:srgbClr val="16202F"/>
                </a:solidFill>
                <a:latin typeface="Calibri" pitchFamily="34" charset="0"/>
                <a:ea typeface="Calibri" pitchFamily="34" charset="-122"/>
                <a:cs typeface="Calibri" pitchFamily="34" charset="-120"/>
              </a:rPr>
              <a:t>48 floats</a:t>
            </a:r>
            <a:endParaRPr lang="en-US" sz="1250" dirty="0"/>
          </a:p>
        </p:txBody>
      </p:sp>
      <p:sp>
        <p:nvSpPr>
          <p:cNvPr id="18" name="Shape 16"/>
          <p:cNvSpPr/>
          <p:nvPr/>
        </p:nvSpPr>
        <p:spPr>
          <a:xfrm>
            <a:off x="640080" y="4828032"/>
            <a:ext cx="5943600" cy="0"/>
          </a:xfrm>
          <a:prstGeom prst="line">
            <a:avLst/>
          </a:prstGeom>
          <a:noFill/>
          <a:ln w="12700">
            <a:solidFill>
              <a:srgbClr val="D5DCE5"/>
            </a:solidFill>
            <a:prstDash val="solid"/>
          </a:ln>
        </p:spPr>
      </p:sp>
      <p:sp>
        <p:nvSpPr>
          <p:cNvPr id="19" name="Text 17"/>
          <p:cNvSpPr txBox="1"/>
          <p:nvPr/>
        </p:nvSpPr>
        <p:spPr>
          <a:xfrm>
            <a:off x="640080" y="4937760"/>
            <a:ext cx="5669280" cy="365760"/>
          </a:xfrm>
          <a:prstGeom prst="rect">
            <a:avLst/>
          </a:prstGeom>
          <a:noFill/>
          <a:ln/>
        </p:spPr>
        <p:txBody>
          <a:bodyPr wrap="square" lIns="0" tIns="0" rIns="0" bIns="0" rtlCol="0" anchor="ctr"/>
          <a:lstStyle/>
          <a:p>
            <a:pPr indent="0" marL="0">
              <a:buNone/>
            </a:pPr>
            <a:r>
              <a:rPr lang="en-US" sz="1350" b="1" dirty="0">
                <a:solidFill>
                  <a:srgbClr val="16202F"/>
                </a:solidFill>
                <a:latin typeface="Calibri" pitchFamily="34" charset="0"/>
                <a:ea typeface="Calibri" pitchFamily="34" charset="-122"/>
                <a:cs typeface="Calibri" pitchFamily="34" charset="-120"/>
              </a:rPr>
              <a:t>59 floats total · 48 are colour · 45 of those are non-DC SH = 76 % of the model</a:t>
            </a:r>
            <a:endParaRPr lang="en-US" sz="1350" dirty="0"/>
          </a:p>
        </p:txBody>
      </p:sp>
      <p:sp>
        <p:nvSpPr>
          <p:cNvPr id="20" name="Shape 18"/>
          <p:cNvSpPr/>
          <p:nvPr/>
        </p:nvSpPr>
        <p:spPr>
          <a:xfrm>
            <a:off x="6903720" y="1737360"/>
            <a:ext cx="4617720" cy="3429000"/>
          </a:xfrm>
          <a:prstGeom prst="roundRect">
            <a:avLst>
              <a:gd name="adj" fmla="val 1600"/>
            </a:avLst>
          </a:prstGeom>
          <a:solidFill>
            <a:srgbClr val="F1F4F8"/>
          </a:solidFill>
          <a:ln w="9525">
            <a:solidFill>
              <a:srgbClr val="D5DCE5"/>
            </a:solidFill>
            <a:prstDash val="solid"/>
          </a:ln>
        </p:spPr>
      </p:sp>
      <p:sp>
        <p:nvSpPr>
          <p:cNvPr id="21" name="Text 19"/>
          <p:cNvSpPr txBox="1"/>
          <p:nvPr/>
        </p:nvSpPr>
        <p:spPr>
          <a:xfrm>
            <a:off x="7159752" y="1920240"/>
            <a:ext cx="4114800" cy="320040"/>
          </a:xfrm>
          <a:prstGeom prst="rect">
            <a:avLst/>
          </a:prstGeom>
          <a:noFill/>
          <a:ln/>
        </p:spPr>
        <p:txBody>
          <a:bodyPr wrap="square" lIns="0" tIns="0" rIns="0" bIns="0" rtlCol="0" anchor="ctr"/>
          <a:lstStyle/>
          <a:p>
            <a:pPr indent="0" marL="0">
              <a:buNone/>
            </a:pPr>
            <a:r>
              <a:rPr lang="en-US" sz="1100" b="1" spc="160" kern="0" dirty="0">
                <a:solidFill>
                  <a:srgbClr val="C2582B"/>
                </a:solidFill>
                <a:latin typeface="Calibri" pitchFamily="34" charset="0"/>
                <a:ea typeface="Calibri" pitchFamily="34" charset="-122"/>
                <a:cs typeface="Calibri" pitchFamily="34" charset="-120"/>
              </a:rPr>
              <a:t>Why this primitive?</a:t>
            </a:r>
            <a:endParaRPr lang="en-US" sz="1100" dirty="0"/>
          </a:p>
        </p:txBody>
      </p:sp>
      <p:sp>
        <p:nvSpPr>
          <p:cNvPr id="22" name="Text 20"/>
          <p:cNvSpPr txBox="1"/>
          <p:nvPr/>
        </p:nvSpPr>
        <p:spPr>
          <a:xfrm>
            <a:off x="7159752" y="2331720"/>
            <a:ext cx="4114800" cy="28346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Differentiable and volumetric — inherits NeRF's optimisation behaviour.</a:t>
            </a:r>
            <a:endParaRPr lang="en-US" sz="1250" dirty="0"/>
          </a:p>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Explicit and unstructured — can be created, moved and destroyed during optimisation.</a:t>
            </a:r>
            <a:endParaRPr lang="en-US" sz="1250" dirty="0"/>
          </a:p>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Projects to a 2D ellipse in closed form, so it rasterises rather than ray-marches.</a:t>
            </a:r>
            <a:endParaRPr lang="en-US" sz="1250" dirty="0"/>
          </a:p>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Anisotropic: one flat Gaussian can represent a whole wall.</a:t>
            </a:r>
            <a:endParaRPr lang="en-US" sz="1250" dirty="0"/>
          </a:p>
        </p:txBody>
      </p:sp>
      <p:sp>
        <p:nvSpPr>
          <p:cNvPr id="23" name="Text 21"/>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500" i="1" dirty="0">
                <a:solidFill>
                  <a:srgbClr val="0D5F68"/>
                </a:solidFill>
                <a:latin typeface="Cambria" pitchFamily="34" charset="0"/>
                <a:ea typeface="Cambria" pitchFamily="34" charset="-122"/>
                <a:cs typeface="Cambria" pitchFamily="34" charset="-120"/>
              </a:rPr>
              <a:t>Typical converged scene: 1–5 million Gaussians.</a:t>
            </a:r>
            <a:endParaRPr lang="en-US" sz="1500" dirty="0"/>
          </a:p>
        </p:txBody>
      </p:sp>
      <p:sp>
        <p:nvSpPr>
          <p:cNvPr id="24" name="Text 22"/>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 · 3DGS</a:t>
            </a:r>
            <a:endParaRPr lang="en-US" sz="950" dirty="0"/>
          </a:p>
        </p:txBody>
      </p:sp>
      <p:sp>
        <p:nvSpPr>
          <p:cNvPr id="25" name="Text 23"/>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3DGS · PARAMETERISATION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Σ is not optimised directly</a:t>
            </a:r>
            <a:endParaRPr lang="en-US" sz="3200" dirty="0"/>
          </a:p>
        </p:txBody>
      </p:sp>
      <p:sp>
        <p:nvSpPr>
          <p:cNvPr id="4" name="Text 2"/>
          <p:cNvSpPr txBox="1"/>
          <p:nvPr/>
        </p:nvSpPr>
        <p:spPr>
          <a:xfrm>
            <a:off x="640080" y="169164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500" dirty="0">
                <a:solidFill>
                  <a:srgbClr val="E8EDF4"/>
                </a:solidFill>
                <a:latin typeface="Calibri" pitchFamily="34" charset="0"/>
                <a:ea typeface="Calibri" pitchFamily="34" charset="-122"/>
                <a:cs typeface="Calibri" pitchFamily="34" charset="-120"/>
              </a:rPr>
              <a:t>A covariance matrix is meaningful only if it is positive semi-definite. Gradient descent on the six free entries of Σ will leave that set within a few steps.</a:t>
            </a:r>
            <a:endParaRPr lang="en-US" sz="1500" dirty="0"/>
          </a:p>
          <a:p>
            <a:pPr marL="203200" indent="-203200">
              <a:lnSpc>
                <a:spcPts val="2200"/>
              </a:lnSpc>
              <a:spcAft>
                <a:spcPts val="900"/>
              </a:spcAft>
              <a:buSzPct val="100000"/>
              <a:buChar char="•"/>
            </a:pPr>
            <a:r>
              <a:rPr lang="en-US" sz="1500" dirty="0">
                <a:solidFill>
                  <a:srgbClr val="E8EDF4"/>
                </a:solidFill>
                <a:latin typeface="Calibri" pitchFamily="34" charset="0"/>
                <a:ea typeface="Calibri" pitchFamily="34" charset="-122"/>
                <a:cs typeface="Calibri" pitchFamily="34" charset="-120"/>
              </a:rPr>
              <a:t>So Σ is factored the way an ellipsoid is described — a rotation and three axis lengths:</a:t>
            </a:r>
            <a:endParaRPr lang="en-US" sz="1500" dirty="0"/>
          </a:p>
        </p:txBody>
      </p:sp>
      <p:sp>
        <p:nvSpPr>
          <p:cNvPr id="5" name="Shape 3"/>
          <p:cNvSpPr/>
          <p:nvPr/>
        </p:nvSpPr>
        <p:spPr>
          <a:xfrm>
            <a:off x="640080" y="2743200"/>
            <a:ext cx="10881360" cy="914400"/>
          </a:xfrm>
          <a:prstGeom prst="rect">
            <a:avLst/>
          </a:prstGeom>
          <a:solidFill>
            <a:srgbClr val="18202E"/>
          </a:solidFill>
          <a:ln w="9525">
            <a:solidFill>
              <a:srgbClr val="2A3546"/>
            </a:solidFill>
            <a:prstDash val="solid"/>
          </a:ln>
        </p:spPr>
      </p:sp>
      <p:sp>
        <p:nvSpPr>
          <p:cNvPr id="6" name="Text 4"/>
          <p:cNvSpPr txBox="1"/>
          <p:nvPr/>
        </p:nvSpPr>
        <p:spPr>
          <a:xfrm>
            <a:off x="914400" y="2944368"/>
            <a:ext cx="10332720" cy="512064"/>
          </a:xfrm>
          <a:prstGeom prst="rect">
            <a:avLst/>
          </a:prstGeom>
          <a:noFill/>
          <a:ln/>
        </p:spPr>
        <p:txBody>
          <a:bodyPr wrap="square" lIns="0" tIns="0" rIns="0" bIns="0" rtlCol="0" anchor="t"/>
          <a:lstStyle/>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Σ = R S Sᵀ Rᵀ      with  S = diag(s),  R = R(q),  q normalised to unit length</a:t>
            </a:r>
            <a:endParaRPr lang="en-US" sz="1300" dirty="0"/>
          </a:p>
        </p:txBody>
      </p:sp>
      <p:sp>
        <p:nvSpPr>
          <p:cNvPr id="7" name="Text 5"/>
          <p:cNvSpPr txBox="1"/>
          <p:nvPr/>
        </p:nvSpPr>
        <p:spPr>
          <a:xfrm>
            <a:off x="640080" y="388620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s and q are stored and optimised separately; the product is PSD by construction.</a:t>
            </a:r>
            <a:endParaRPr lang="en-US" sz="1450" dirty="0"/>
          </a:p>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Gradients for every parameter are derived by hand rather than left to autodiff — the paper devotes Appendix A to ∂Σ′/∂s and ∂Σ′/∂q, purely to avoid autodiff overhead in the inner loop.</a:t>
            </a:r>
            <a:endParaRPr lang="en-US" sz="1450" dirty="0"/>
          </a:p>
          <a:p>
            <a:pPr marL="203200" indent="-203200">
              <a:lnSpc>
                <a:spcPts val="2200"/>
              </a:lnSpc>
              <a:spcAft>
                <a:spcPts val="900"/>
              </a:spcAft>
              <a:buSzPct val="100000"/>
              <a:buChar char="•"/>
            </a:pPr>
            <a:r>
              <a:rPr lang="en-US" sz="1450" dirty="0">
                <a:solidFill>
                  <a:srgbClr val="E8EDF4"/>
                </a:solidFill>
                <a:latin typeface="Calibri" pitchFamily="34" charset="0"/>
                <a:ea typeface="Calibri" pitchFamily="34" charset="-122"/>
                <a:cs typeface="Calibri" pitchFamily="34" charset="-120"/>
              </a:rPr>
              <a:t>This is the first place a design choice is made for speed rather than for correctness. It will not be the last.</a:t>
            </a:r>
            <a:endParaRPr lang="en-US" sz="1450" dirty="0"/>
          </a:p>
        </p:txBody>
      </p:sp>
      <p:sp>
        <p:nvSpPr>
          <p:cNvPr id="8" name="Text 6"/>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II · 3DGS</a:t>
            </a:r>
            <a:endParaRPr lang="en-US" sz="950" dirty="0"/>
          </a:p>
        </p:txBody>
      </p:sp>
      <p:sp>
        <p:nvSpPr>
          <p:cNvPr id="9" name="Text 7"/>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3DGS · RENDERING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Projection: EWA splatting</a:t>
            </a:r>
            <a:endParaRPr lang="en-US" sz="3200" dirty="0"/>
          </a:p>
        </p:txBody>
      </p:sp>
      <p:sp>
        <p:nvSpPr>
          <p:cNvPr id="4" name="Text 2"/>
          <p:cNvSpPr txBox="1"/>
          <p:nvPr/>
        </p:nvSpPr>
        <p:spPr>
          <a:xfrm>
            <a:off x="640080" y="1737360"/>
            <a:ext cx="10881360" cy="5486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500" dirty="0">
                <a:solidFill>
                  <a:srgbClr val="16202F"/>
                </a:solidFill>
                <a:latin typeface="Calibri" pitchFamily="34" charset="0"/>
                <a:ea typeface="Calibri" pitchFamily="34" charset="-122"/>
                <a:cs typeface="Calibri" pitchFamily="34" charset="-120"/>
              </a:rPr>
              <a:t>To rasterise, the 3D Gaussian must become a 2D Gaussian in image space. Zwicker et al. (2001) gave the transform:</a:t>
            </a:r>
            <a:endParaRPr lang="en-US" sz="1500" dirty="0"/>
          </a:p>
        </p:txBody>
      </p:sp>
      <p:sp>
        <p:nvSpPr>
          <p:cNvPr id="5" name="Shape 3"/>
          <p:cNvSpPr/>
          <p:nvPr/>
        </p:nvSpPr>
        <p:spPr>
          <a:xfrm>
            <a:off x="640080" y="2286000"/>
            <a:ext cx="10881360" cy="914400"/>
          </a:xfrm>
          <a:prstGeom prst="rect">
            <a:avLst/>
          </a:prstGeom>
          <a:solidFill>
            <a:srgbClr val="F1F4F8"/>
          </a:solidFill>
          <a:ln w="9525">
            <a:solidFill>
              <a:srgbClr val="D5DCE5"/>
            </a:solidFill>
            <a:prstDash val="solid"/>
          </a:ln>
        </p:spPr>
      </p:sp>
      <p:sp>
        <p:nvSpPr>
          <p:cNvPr id="6" name="Text 4"/>
          <p:cNvSpPr txBox="1"/>
          <p:nvPr/>
        </p:nvSpPr>
        <p:spPr>
          <a:xfrm>
            <a:off x="914400" y="2487168"/>
            <a:ext cx="10332720" cy="512064"/>
          </a:xfrm>
          <a:prstGeom prst="rect">
            <a:avLst/>
          </a:prstGeom>
          <a:noFill/>
          <a:ln/>
        </p:spPr>
        <p:txBody>
          <a:bodyPr wrap="square" lIns="0" tIns="0" rIns="0" bIns="0" rtlCol="0" anchor="t"/>
          <a:lstStyle/>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Σ′ = J W Σ Wᵀ Jᵀ      W = viewing transform,  J = Jacobian of the projective map</a:t>
            </a:r>
            <a:endParaRPr lang="en-US" sz="1300" dirty="0"/>
          </a:p>
        </p:txBody>
      </p:sp>
      <p:sp>
        <p:nvSpPr>
          <p:cNvPr id="7" name="Text 5"/>
          <p:cNvSpPr txBox="1"/>
          <p:nvPr/>
        </p:nvSpPr>
        <p:spPr>
          <a:xfrm>
            <a:off x="640080" y="342900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J is the local affine approximation to a nonlinear projection — accurate near the optical axis, degrading toward the periphery.</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Dropping the third row and column of Σ′ gives the 2×2 screen-space covariance, and the splat is an ellipse.</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This same J is the object my proposed method reuses. It is already computed, every frame, for every Gaussian.</a:t>
            </a:r>
            <a:endParaRPr lang="en-US" sz="1450" dirty="0"/>
          </a:p>
        </p:txBody>
      </p:sp>
      <p:sp>
        <p:nvSpPr>
          <p:cNvPr id="8" name="Text 6"/>
          <p:cNvSpPr txBox="1"/>
          <p:nvPr/>
        </p:nvSpPr>
        <p:spPr>
          <a:xfrm>
            <a:off x="640080" y="5349240"/>
            <a:ext cx="10881360" cy="777240"/>
          </a:xfrm>
          <a:prstGeom prst="rect">
            <a:avLst/>
          </a:prstGeom>
          <a:noFill/>
          <a:ln/>
        </p:spPr>
        <p:txBody>
          <a:bodyPr wrap="square" lIns="0" tIns="0" rIns="0" bIns="0" rtlCol="0" anchor="ctr"/>
          <a:lstStyle/>
          <a:p>
            <a:pPr indent="0" marL="0">
              <a:lnSpc>
                <a:spcPts val="2400"/>
              </a:lnSpc>
              <a:buNone/>
            </a:pPr>
            <a:r>
              <a:rPr lang="en-US" sz="1500" i="1" dirty="0">
                <a:solidFill>
                  <a:srgbClr val="0D5F68"/>
                </a:solidFill>
                <a:latin typeface="Cambria" pitchFamily="34" charset="0"/>
                <a:ea typeface="Cambria" pitchFamily="34" charset="-122"/>
                <a:cs typeface="Cambria" pitchFamily="34" charset="-120"/>
              </a:rPr>
              <a:t>EWA splatting is a resampling filter from the point-rendering literature. 3DGS inherits its geometry but not its filtering discipline — that omission is the subject of Part III.</a:t>
            </a:r>
            <a:endParaRPr lang="en-US" sz="1500" dirty="0"/>
          </a:p>
        </p:txBody>
      </p:sp>
      <p:sp>
        <p:nvSpPr>
          <p:cNvPr id="9" name="Text 7"/>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 · 3DGS</a:t>
            </a:r>
            <a:endParaRPr lang="en-US" sz="950" dirty="0"/>
          </a:p>
        </p:txBody>
      </p:sp>
      <p:sp>
        <p:nvSpPr>
          <p:cNvPr id="10" name="Text 8"/>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3DGS · TRAINING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Optimisation and adaptive density control</a:t>
            </a:r>
            <a:endParaRPr lang="en-US" sz="3200" dirty="0"/>
          </a:p>
        </p:txBody>
      </p:sp>
      <p:sp>
        <p:nvSpPr>
          <p:cNvPr id="4" name="Shape 2"/>
          <p:cNvSpPr/>
          <p:nvPr/>
        </p:nvSpPr>
        <p:spPr>
          <a:xfrm>
            <a:off x="640080" y="1691640"/>
            <a:ext cx="5349240" cy="777240"/>
          </a:xfrm>
          <a:prstGeom prst="rect">
            <a:avLst/>
          </a:prstGeom>
          <a:solidFill>
            <a:srgbClr val="F1F4F8"/>
          </a:solidFill>
          <a:ln w="9525">
            <a:solidFill>
              <a:srgbClr val="D5DCE5"/>
            </a:solidFill>
            <a:prstDash val="solid"/>
          </a:ln>
        </p:spPr>
      </p:sp>
      <p:sp>
        <p:nvSpPr>
          <p:cNvPr id="5" name="Text 3"/>
          <p:cNvSpPr txBox="1"/>
          <p:nvPr/>
        </p:nvSpPr>
        <p:spPr>
          <a:xfrm>
            <a:off x="914400" y="1892808"/>
            <a:ext cx="4800600" cy="374904"/>
          </a:xfrm>
          <a:prstGeom prst="rect">
            <a:avLst/>
          </a:prstGeom>
          <a:noFill/>
          <a:ln/>
        </p:spPr>
        <p:txBody>
          <a:bodyPr wrap="square" lIns="0" tIns="0" rIns="0" bIns="0" rtlCol="0" anchor="t"/>
          <a:lstStyle/>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L = (1 − λ) L₁ + λ L_D-SSIM     λ = 0.2</a:t>
            </a:r>
            <a:endParaRPr lang="en-US" sz="1300" dirty="0"/>
          </a:p>
        </p:txBody>
      </p:sp>
      <p:sp>
        <p:nvSpPr>
          <p:cNvPr id="6" name="Text 4"/>
          <p:cNvSpPr txBox="1"/>
          <p:nvPr/>
        </p:nvSpPr>
        <p:spPr>
          <a:xfrm>
            <a:off x="640080" y="2651760"/>
            <a:ext cx="5349240" cy="128016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00" dirty="0">
                <a:solidFill>
                  <a:srgbClr val="16202F"/>
                </a:solidFill>
                <a:latin typeface="Calibri" pitchFamily="34" charset="0"/>
                <a:ea typeface="Calibri" pitchFamily="34" charset="-122"/>
                <a:cs typeface="Calibri" pitchFamily="34" charset="-120"/>
              </a:rPr>
              <a:t>SGD from the SfM point cloud. Sigmoid on α, exponential on scale.</a:t>
            </a:r>
            <a:endParaRPr lang="en-US" sz="1400" dirty="0"/>
          </a:p>
          <a:p>
            <a:pPr marL="203200" indent="-203200">
              <a:lnSpc>
                <a:spcPts val="2200"/>
              </a:lnSpc>
              <a:spcAft>
                <a:spcPts val="900"/>
              </a:spcAft>
              <a:buSzPct val="100000"/>
              <a:buChar char="•"/>
            </a:pPr>
            <a:r>
              <a:rPr lang="en-US" sz="1400" dirty="0">
                <a:solidFill>
                  <a:srgbClr val="16202F"/>
                </a:solidFill>
                <a:latin typeface="Calibri" pitchFamily="34" charset="0"/>
                <a:ea typeface="Calibri" pitchFamily="34" charset="-122"/>
                <a:cs typeface="Calibri" pitchFamily="34" charset="-120"/>
              </a:rPr>
              <a:t>Every 100 iterations: prune Gaussians with α &lt; ε, then densify.</a:t>
            </a:r>
            <a:endParaRPr lang="en-US" sz="1400" dirty="0"/>
          </a:p>
        </p:txBody>
      </p:sp>
      <p:sp>
        <p:nvSpPr>
          <p:cNvPr id="7" name="Shape 5"/>
          <p:cNvSpPr/>
          <p:nvPr/>
        </p:nvSpPr>
        <p:spPr>
          <a:xfrm>
            <a:off x="6309360" y="1691640"/>
            <a:ext cx="5212080" cy="2148840"/>
          </a:xfrm>
          <a:prstGeom prst="roundRect">
            <a:avLst>
              <a:gd name="adj" fmla="val 2553"/>
            </a:avLst>
          </a:prstGeom>
          <a:solidFill>
            <a:srgbClr val="F1F4F8"/>
          </a:solidFill>
          <a:ln w="9525">
            <a:solidFill>
              <a:srgbClr val="D5DCE5"/>
            </a:solidFill>
            <a:prstDash val="solid"/>
          </a:ln>
        </p:spPr>
      </p:sp>
      <p:sp>
        <p:nvSpPr>
          <p:cNvPr id="8" name="Text 6"/>
          <p:cNvSpPr txBox="1"/>
          <p:nvPr/>
        </p:nvSpPr>
        <p:spPr>
          <a:xfrm>
            <a:off x="6565392" y="1892808"/>
            <a:ext cx="470001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Densification — two cases, one trigger</a:t>
            </a:r>
            <a:endParaRPr lang="en-US" sz="1350" dirty="0"/>
          </a:p>
        </p:txBody>
      </p:sp>
      <p:sp>
        <p:nvSpPr>
          <p:cNvPr id="9" name="Text 7"/>
          <p:cNvSpPr txBox="1"/>
          <p:nvPr/>
        </p:nvSpPr>
        <p:spPr>
          <a:xfrm>
            <a:off x="6565392" y="2258568"/>
            <a:ext cx="470001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Both fire when the average view-space positional gradient exceeds τ_pos = 0.0002.</a:t>
            </a:r>
            <a:endParaRPr lang="en-US" sz="1200" dirty="0"/>
          </a:p>
          <a:p>
            <a:pPr indent="0" marL="0">
              <a:lnSpc>
                <a:spcPts val="1700"/>
              </a:lnSpc>
              <a:buNone/>
            </a:pPr>
            <a:endParaRPr lang="en-US" sz="1200" dirty="0"/>
          </a:p>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Small Gaussian (under-reconstruction) → CLONE.</a:t>
            </a:r>
            <a:endParaRPr lang="en-US" sz="1200" dirty="0"/>
          </a:p>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Large Gaussian (over-reconstruction) → SPLIT, scale divided by φ = 1.6.</a:t>
            </a:r>
            <a:endParaRPr lang="en-US" sz="1200" dirty="0"/>
          </a:p>
        </p:txBody>
      </p:sp>
      <p:sp>
        <p:nvSpPr>
          <p:cNvPr id="10" name="Text 8"/>
          <p:cNvSpPr txBox="1"/>
          <p:nvPr/>
        </p:nvSpPr>
        <p:spPr>
          <a:xfrm>
            <a:off x="640080" y="4114800"/>
            <a:ext cx="10881360" cy="365760"/>
          </a:xfrm>
          <a:prstGeom prst="rect">
            <a:avLst/>
          </a:prstGeom>
          <a:noFill/>
          <a:ln/>
        </p:spPr>
        <p:txBody>
          <a:bodyPr wrap="square" lIns="0" tIns="0" rIns="0" bIns="0" rtlCol="0" anchor="ctr"/>
          <a:lstStyle/>
          <a:p>
            <a:pPr indent="0" marL="0">
              <a:buNone/>
            </a:pPr>
            <a:r>
              <a:rPr lang="en-US" sz="2100" b="1" dirty="0">
                <a:solidFill>
                  <a:srgbClr val="C2582B"/>
                </a:solidFill>
                <a:latin typeface="Cambria" pitchFamily="34" charset="0"/>
                <a:ea typeface="Cambria" pitchFamily="34" charset="-122"/>
                <a:cs typeface="Cambria" pitchFamily="34" charset="-120"/>
              </a:rPr>
              <a:t>Every number on this slide is a hand-tuned constant</a:t>
            </a:r>
            <a:endParaRPr lang="en-US" sz="2100" dirty="0"/>
          </a:p>
        </p:txBody>
      </p:sp>
      <p:sp>
        <p:nvSpPr>
          <p:cNvPr id="11" name="Text 9"/>
          <p:cNvSpPr txBox="1"/>
          <p:nvPr/>
        </p:nvSpPr>
        <p:spPr>
          <a:xfrm>
            <a:off x="640080" y="452628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00" dirty="0">
                <a:solidFill>
                  <a:srgbClr val="16202F"/>
                </a:solidFill>
                <a:latin typeface="Calibri" pitchFamily="34" charset="0"/>
                <a:ea typeface="Calibri" pitchFamily="34" charset="-122"/>
                <a:cs typeface="Calibri" pitchFamily="34" charset="-120"/>
              </a:rPr>
              <a:t>τ_pos = 0.0002 · φ = 1.6 · α reset to ~0 every 3000 iterations · densify every 100 · SH band added every 1000 · resolution warm-up at iterations 250 and 500.</a:t>
            </a:r>
            <a:endParaRPr lang="en-US" sz="1400" dirty="0"/>
          </a:p>
          <a:p>
            <a:pPr marL="203200" indent="-203200">
              <a:lnSpc>
                <a:spcPts val="2200"/>
              </a:lnSpc>
              <a:spcAft>
                <a:spcPts val="900"/>
              </a:spcAft>
              <a:buSzPct val="100000"/>
              <a:buChar char="•"/>
            </a:pPr>
            <a:r>
              <a:rPr lang="en-US" sz="1400" dirty="0">
                <a:solidFill>
                  <a:srgbClr val="16202F"/>
                </a:solidFill>
                <a:latin typeface="Calibri" pitchFamily="34" charset="0"/>
                <a:ea typeface="Calibri" pitchFamily="34" charset="-122"/>
                <a:cs typeface="Calibri" pitchFamily="34" charset="-120"/>
              </a:rPr>
              <a:t>None of these is derived from the data. Nothing connects how fine a Gaussian may become to how well the cameras actually resolve that region.</a:t>
            </a:r>
            <a:endParaRPr lang="en-US" sz="1400" dirty="0"/>
          </a:p>
          <a:p>
            <a:pPr marL="203200" indent="-203200">
              <a:lnSpc>
                <a:spcPts val="2200"/>
              </a:lnSpc>
              <a:spcAft>
                <a:spcPts val="900"/>
              </a:spcAft>
              <a:buSzPct val="100000"/>
              <a:buChar char="•"/>
            </a:pPr>
            <a:r>
              <a:rPr lang="en-US" sz="1400" dirty="0">
                <a:solidFill>
                  <a:srgbClr val="16202F"/>
                </a:solidFill>
                <a:latin typeface="Calibri" pitchFamily="34" charset="0"/>
                <a:ea typeface="Calibri" pitchFamily="34" charset="-122"/>
                <a:cs typeface="Calibri" pitchFamily="34" charset="-120"/>
              </a:rPr>
              <a:t>The authors are explicit that the α-reset exists to control floaters near the input cameras — a symptom, treated with a schedule.</a:t>
            </a:r>
            <a:endParaRPr lang="en-US" sz="1400" dirty="0"/>
          </a:p>
        </p:txBody>
      </p:sp>
      <p:sp>
        <p:nvSpPr>
          <p:cNvPr id="12" name="Text 10"/>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 · 3DGS</a:t>
            </a:r>
            <a:endParaRPr lang="en-US" sz="950" dirty="0"/>
          </a:p>
        </p:txBody>
      </p:sp>
      <p:sp>
        <p:nvSpPr>
          <p:cNvPr id="13" name="Text 11"/>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3DGS · SYSTEMS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tile rasteriser — where the speed comes from</a:t>
            </a:r>
            <a:endParaRPr lang="en-US" sz="3200" dirty="0"/>
          </a:p>
        </p:txBody>
      </p:sp>
      <p:sp>
        <p:nvSpPr>
          <p:cNvPr id="4" name="Shape 2"/>
          <p:cNvSpPr/>
          <p:nvPr/>
        </p:nvSpPr>
        <p:spPr>
          <a:xfrm>
            <a:off x="640080" y="1737360"/>
            <a:ext cx="384048" cy="384048"/>
          </a:xfrm>
          <a:prstGeom prst="ellipse">
            <a:avLst/>
          </a:prstGeom>
          <a:solidFill>
            <a:srgbClr val="E9814F"/>
          </a:solidFill>
          <a:ln w="12700">
            <a:solidFill>
              <a:srgbClr val="E9814F"/>
            </a:solidFill>
            <a:prstDash val="solid"/>
          </a:ln>
        </p:spPr>
      </p:sp>
      <p:sp>
        <p:nvSpPr>
          <p:cNvPr id="5" name="Text 3"/>
          <p:cNvSpPr txBox="1"/>
          <p:nvPr/>
        </p:nvSpPr>
        <p:spPr>
          <a:xfrm>
            <a:off x="640080" y="1773936"/>
            <a:ext cx="384048" cy="310896"/>
          </a:xfrm>
          <a:prstGeom prst="rect">
            <a:avLst/>
          </a:prstGeom>
          <a:noFill/>
          <a:ln/>
        </p:spPr>
        <p:txBody>
          <a:bodyPr wrap="square" lIns="0" tIns="0" rIns="0" bIns="0" rtlCol="0" anchor="ctr"/>
          <a:lstStyle/>
          <a:p>
            <a:pPr algn="ctr" indent="0" marL="0">
              <a:buNone/>
            </a:pPr>
            <a:r>
              <a:rPr lang="en-US" sz="1400" b="1" dirty="0">
                <a:solidFill>
                  <a:srgbClr val="0E1420"/>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34440" y="1682496"/>
            <a:ext cx="14630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Cull</a:t>
            </a:r>
            <a:endParaRPr lang="en-US" sz="1800" dirty="0"/>
          </a:p>
        </p:txBody>
      </p:sp>
      <p:sp>
        <p:nvSpPr>
          <p:cNvPr id="7" name="Text 5"/>
          <p:cNvSpPr txBox="1"/>
          <p:nvPr/>
        </p:nvSpPr>
        <p:spPr>
          <a:xfrm>
            <a:off x="2788920" y="1719072"/>
            <a:ext cx="8732520" cy="777240"/>
          </a:xfrm>
          <a:prstGeom prst="rect">
            <a:avLst/>
          </a:prstGeom>
          <a:noFill/>
          <a:ln/>
        </p:spPr>
        <p:txBody>
          <a:bodyPr wrap="square" lIns="0" tIns="0" rIns="0" bIns="0" rtlCol="0" anchor="t"/>
          <a:lstStyle/>
          <a:p>
            <a:pPr indent="0" marL="0">
              <a:lnSpc>
                <a:spcPts val="1900"/>
              </a:lnSpc>
              <a:buNone/>
            </a:pPr>
            <a:r>
              <a:rPr lang="en-US" sz="1350" dirty="0">
                <a:solidFill>
                  <a:srgbClr val="9DACC0"/>
                </a:solidFill>
                <a:latin typeface="Calibri" pitchFamily="34" charset="0"/>
                <a:ea typeface="Calibri" pitchFamily="34" charset="-122"/>
                <a:cs typeface="Calibri" pitchFamily="34" charset="-120"/>
              </a:rPr>
              <a:t>Keep Gaussians whose 99 % confidence ellipsoid meets the frustum; a guard band rejects unstable near-plane cases.</a:t>
            </a:r>
            <a:endParaRPr lang="en-US" sz="1350" dirty="0"/>
          </a:p>
        </p:txBody>
      </p:sp>
      <p:sp>
        <p:nvSpPr>
          <p:cNvPr id="8" name="Shape 6"/>
          <p:cNvSpPr/>
          <p:nvPr/>
        </p:nvSpPr>
        <p:spPr>
          <a:xfrm>
            <a:off x="640080" y="2761488"/>
            <a:ext cx="384048" cy="384048"/>
          </a:xfrm>
          <a:prstGeom prst="ellipse">
            <a:avLst/>
          </a:prstGeom>
          <a:solidFill>
            <a:srgbClr val="E9814F"/>
          </a:solidFill>
          <a:ln w="12700">
            <a:solidFill>
              <a:srgbClr val="E9814F"/>
            </a:solidFill>
            <a:prstDash val="solid"/>
          </a:ln>
        </p:spPr>
      </p:sp>
      <p:sp>
        <p:nvSpPr>
          <p:cNvPr id="9" name="Text 7"/>
          <p:cNvSpPr txBox="1"/>
          <p:nvPr/>
        </p:nvSpPr>
        <p:spPr>
          <a:xfrm>
            <a:off x="640080" y="2798064"/>
            <a:ext cx="384048" cy="310896"/>
          </a:xfrm>
          <a:prstGeom prst="rect">
            <a:avLst/>
          </a:prstGeom>
          <a:noFill/>
          <a:ln/>
        </p:spPr>
        <p:txBody>
          <a:bodyPr wrap="square" lIns="0" tIns="0" rIns="0" bIns="0" rtlCol="0" anchor="ctr"/>
          <a:lstStyle/>
          <a:p>
            <a:pPr algn="ctr" indent="0" marL="0">
              <a:buNone/>
            </a:pPr>
            <a:r>
              <a:rPr lang="en-US" sz="1400" b="1" dirty="0">
                <a:solidFill>
                  <a:srgbClr val="0E1420"/>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234440" y="2706624"/>
            <a:ext cx="14630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Tile</a:t>
            </a:r>
            <a:endParaRPr lang="en-US" sz="1800" dirty="0"/>
          </a:p>
        </p:txBody>
      </p:sp>
      <p:sp>
        <p:nvSpPr>
          <p:cNvPr id="11" name="Text 9"/>
          <p:cNvSpPr txBox="1"/>
          <p:nvPr/>
        </p:nvSpPr>
        <p:spPr>
          <a:xfrm>
            <a:off x="2788920" y="2743200"/>
            <a:ext cx="8732520" cy="777240"/>
          </a:xfrm>
          <a:prstGeom prst="rect">
            <a:avLst/>
          </a:prstGeom>
          <a:noFill/>
          <a:ln/>
        </p:spPr>
        <p:txBody>
          <a:bodyPr wrap="square" lIns="0" tIns="0" rIns="0" bIns="0" rtlCol="0" anchor="t"/>
          <a:lstStyle/>
          <a:p>
            <a:pPr indent="0" marL="0">
              <a:lnSpc>
                <a:spcPts val="1900"/>
              </a:lnSpc>
              <a:buNone/>
            </a:pPr>
            <a:r>
              <a:rPr lang="en-US" sz="1350" dirty="0">
                <a:solidFill>
                  <a:srgbClr val="9DACC0"/>
                </a:solidFill>
                <a:latin typeface="Calibri" pitchFamily="34" charset="0"/>
                <a:ea typeface="Calibri" pitchFamily="34" charset="-122"/>
                <a:cs typeface="Calibri" pitchFamily="34" charset="-120"/>
              </a:rPr>
              <a:t>Split the screen into 16×16 tiles. Instantiate each Gaussian once per tile it overlaps.</a:t>
            </a:r>
            <a:endParaRPr lang="en-US" sz="1350" dirty="0"/>
          </a:p>
        </p:txBody>
      </p:sp>
      <p:sp>
        <p:nvSpPr>
          <p:cNvPr id="12" name="Shape 10"/>
          <p:cNvSpPr/>
          <p:nvPr/>
        </p:nvSpPr>
        <p:spPr>
          <a:xfrm>
            <a:off x="640080" y="3785616"/>
            <a:ext cx="384048" cy="384048"/>
          </a:xfrm>
          <a:prstGeom prst="ellipse">
            <a:avLst/>
          </a:prstGeom>
          <a:solidFill>
            <a:srgbClr val="E9814F"/>
          </a:solidFill>
          <a:ln w="12700">
            <a:solidFill>
              <a:srgbClr val="E9814F"/>
            </a:solidFill>
            <a:prstDash val="solid"/>
          </a:ln>
        </p:spPr>
      </p:sp>
      <p:sp>
        <p:nvSpPr>
          <p:cNvPr id="13" name="Text 11"/>
          <p:cNvSpPr txBox="1"/>
          <p:nvPr/>
        </p:nvSpPr>
        <p:spPr>
          <a:xfrm>
            <a:off x="640080" y="3822192"/>
            <a:ext cx="384048" cy="310896"/>
          </a:xfrm>
          <a:prstGeom prst="rect">
            <a:avLst/>
          </a:prstGeom>
          <a:noFill/>
          <a:ln/>
        </p:spPr>
        <p:txBody>
          <a:bodyPr wrap="square" lIns="0" tIns="0" rIns="0" bIns="0" rtlCol="0" anchor="ctr"/>
          <a:lstStyle/>
          <a:p>
            <a:pPr algn="ctr" indent="0" marL="0">
              <a:buNone/>
            </a:pPr>
            <a:r>
              <a:rPr lang="en-US" sz="1400" b="1" dirty="0">
                <a:solidFill>
                  <a:srgbClr val="0E1420"/>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34440" y="3730752"/>
            <a:ext cx="14630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Sort</a:t>
            </a:r>
            <a:endParaRPr lang="en-US" sz="1800" dirty="0"/>
          </a:p>
        </p:txBody>
      </p:sp>
      <p:sp>
        <p:nvSpPr>
          <p:cNvPr id="15" name="Text 13"/>
          <p:cNvSpPr txBox="1"/>
          <p:nvPr/>
        </p:nvSpPr>
        <p:spPr>
          <a:xfrm>
            <a:off x="2788920" y="3767328"/>
            <a:ext cx="8732520" cy="777240"/>
          </a:xfrm>
          <a:prstGeom prst="rect">
            <a:avLst/>
          </a:prstGeom>
          <a:noFill/>
          <a:ln/>
        </p:spPr>
        <p:txBody>
          <a:bodyPr wrap="square" lIns="0" tIns="0" rIns="0" bIns="0" rtlCol="0" anchor="t"/>
          <a:lstStyle/>
          <a:p>
            <a:pPr indent="0" marL="0">
              <a:lnSpc>
                <a:spcPts val="1900"/>
              </a:lnSpc>
              <a:buNone/>
            </a:pPr>
            <a:r>
              <a:rPr lang="en-US" sz="1350" dirty="0">
                <a:solidFill>
                  <a:srgbClr val="9DACC0"/>
                </a:solidFill>
                <a:latin typeface="Calibri" pitchFamily="34" charset="0"/>
                <a:ea typeface="Calibri" pitchFamily="34" charset="-122"/>
                <a:cs typeface="Calibri" pitchFamily="34" charset="-120"/>
              </a:rPr>
              <a:t>One 64-bit key per instance: high bits = tile ID, low 32 = quantised depth. A single global radix sort orders every splat for the whole frame.</a:t>
            </a:r>
            <a:endParaRPr lang="en-US" sz="1350" dirty="0"/>
          </a:p>
        </p:txBody>
      </p:sp>
      <p:sp>
        <p:nvSpPr>
          <p:cNvPr id="16" name="Shape 14"/>
          <p:cNvSpPr/>
          <p:nvPr/>
        </p:nvSpPr>
        <p:spPr>
          <a:xfrm>
            <a:off x="640080" y="4809744"/>
            <a:ext cx="384048" cy="384048"/>
          </a:xfrm>
          <a:prstGeom prst="ellipse">
            <a:avLst/>
          </a:prstGeom>
          <a:solidFill>
            <a:srgbClr val="E9814F"/>
          </a:solidFill>
          <a:ln w="12700">
            <a:solidFill>
              <a:srgbClr val="E9814F"/>
            </a:solidFill>
            <a:prstDash val="solid"/>
          </a:ln>
        </p:spPr>
      </p:sp>
      <p:sp>
        <p:nvSpPr>
          <p:cNvPr id="17" name="Text 15"/>
          <p:cNvSpPr txBox="1"/>
          <p:nvPr/>
        </p:nvSpPr>
        <p:spPr>
          <a:xfrm>
            <a:off x="640080" y="4846320"/>
            <a:ext cx="384048" cy="310896"/>
          </a:xfrm>
          <a:prstGeom prst="rect">
            <a:avLst/>
          </a:prstGeom>
          <a:noFill/>
          <a:ln/>
        </p:spPr>
        <p:txBody>
          <a:bodyPr wrap="square" lIns="0" tIns="0" rIns="0" bIns="0" rtlCol="0" anchor="ctr"/>
          <a:lstStyle/>
          <a:p>
            <a:pPr algn="ctr" indent="0" marL="0">
              <a:buNone/>
            </a:pPr>
            <a:r>
              <a:rPr lang="en-US" sz="1400" b="1" dirty="0">
                <a:solidFill>
                  <a:srgbClr val="0E1420"/>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234440" y="4754880"/>
            <a:ext cx="14630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Blend</a:t>
            </a:r>
            <a:endParaRPr lang="en-US" sz="1800" dirty="0"/>
          </a:p>
        </p:txBody>
      </p:sp>
      <p:sp>
        <p:nvSpPr>
          <p:cNvPr id="19" name="Text 17"/>
          <p:cNvSpPr txBox="1"/>
          <p:nvPr/>
        </p:nvSpPr>
        <p:spPr>
          <a:xfrm>
            <a:off x="2788920" y="4791456"/>
            <a:ext cx="8732520" cy="777240"/>
          </a:xfrm>
          <a:prstGeom prst="rect">
            <a:avLst/>
          </a:prstGeom>
          <a:noFill/>
          <a:ln/>
        </p:spPr>
        <p:txBody>
          <a:bodyPr wrap="square" lIns="0" tIns="0" rIns="0" bIns="0" rtlCol="0" anchor="t"/>
          <a:lstStyle/>
          <a:p>
            <a:pPr indent="0" marL="0">
              <a:lnSpc>
                <a:spcPts val="1900"/>
              </a:lnSpc>
              <a:buNone/>
            </a:pPr>
            <a:r>
              <a:rPr lang="en-US" sz="1350" dirty="0">
                <a:solidFill>
                  <a:srgbClr val="9DACC0"/>
                </a:solidFill>
                <a:latin typeface="Calibri" pitchFamily="34" charset="0"/>
                <a:ea typeface="Calibri" pitchFamily="34" charset="-122"/>
                <a:cs typeface="Calibri" pitchFamily="34" charset="-120"/>
              </a:rPr>
              <a:t>One thread block per tile, front-to-back, cooperative loads into shared memory. A thread stops when its pixel saturates; the tile stops when all pixels do.</a:t>
            </a:r>
            <a:endParaRPr lang="en-US" sz="1350" dirty="0"/>
          </a:p>
        </p:txBody>
      </p:sp>
      <p:sp>
        <p:nvSpPr>
          <p:cNvPr id="20" name="Text 18"/>
          <p:cNvSpPr txBox="1"/>
          <p:nvPr/>
        </p:nvSpPr>
        <p:spPr>
          <a:xfrm>
            <a:off x="640080" y="5623560"/>
            <a:ext cx="10881360" cy="685800"/>
          </a:xfrm>
          <a:prstGeom prst="rect">
            <a:avLst/>
          </a:prstGeom>
          <a:noFill/>
          <a:ln/>
        </p:spPr>
        <p:txBody>
          <a:bodyPr wrap="square" lIns="0" tIns="0" rIns="0" bIns="0" rtlCol="0" anchor="ctr"/>
          <a:lstStyle/>
          <a:p>
            <a:pPr indent="0" marL="0">
              <a:lnSpc>
                <a:spcPts val="1900"/>
              </a:lnSpc>
              <a:buNone/>
            </a:pPr>
            <a:r>
              <a:rPr lang="en-US" sz="1300" dirty="0">
                <a:solidFill>
                  <a:srgbClr val="E8EDF4"/>
                </a:solidFill>
                <a:latin typeface="Calibri" pitchFamily="34" charset="0"/>
                <a:ea typeface="Calibri" pitchFamily="34" charset="-122"/>
                <a:cs typeface="Calibri" pitchFamily="34" charset="-120"/>
              </a:rPr>
              <a:t>The backward pass re-traverses the same sorted lists back-to-front and recovers intermediate opacities by dividing the stored final α — no per-pixel list in global memory, and no cap on how many splats receive gradients.</a:t>
            </a:r>
            <a:endParaRPr lang="en-US" sz="1300" dirty="0"/>
          </a:p>
        </p:txBody>
      </p:sp>
      <p:sp>
        <p:nvSpPr>
          <p:cNvPr id="21" name="Text 19"/>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II · 3DGS</a:t>
            </a:r>
            <a:endParaRPr lang="en-US" sz="950" dirty="0"/>
          </a:p>
        </p:txBody>
      </p:sp>
      <p:sp>
        <p:nvSpPr>
          <p:cNvPr id="22" name="Text 20"/>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3DGS · EVALUATION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Results on Mip-NeRF 360</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926080"/>
                <a:gridCol w="1234440"/>
                <a:gridCol w="1234440"/>
                <a:gridCol w="1325880"/>
                <a:gridCol w="1371600"/>
                <a:gridCol w="1234440"/>
                <a:gridCol w="1554480"/>
              </a:tblGrid>
              <a:tr h="402336">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Method</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SSIM ↑</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PSNR ↑</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LPIPS ↓</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Train</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FPS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Memory</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r>
              <a:tr h="402336">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Plenoxels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0.626</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23.08</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0.463</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25m49s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6.79</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2.1 GB</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Instant-NGP (Big)</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0.699</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25.59</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0.331</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7m30s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9.43</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48 MB</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Mip-NeRF 360</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0.792</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27.69</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0.237</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48 h</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0.06</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8.6 MB</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3DGS — 7K iters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0.770</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25.60</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0.279</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6m25s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160</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523 MB</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3DGS — 30K iters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0.815</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27.21</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0.214</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41m33s</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134</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6202F"/>
                          </a:solidFill>
                          <a:latin typeface="Calibri" pitchFamily="34" charset="0"/>
                          <a:ea typeface="Calibri" pitchFamily="34" charset="-122"/>
                          <a:cs typeface="Calibri" pitchFamily="34" charset="-120"/>
                        </a:rPr>
                        <a:t>734 MB</a:t>
                      </a:r>
                      <a:endParaRPr lang="en-US" sz="13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709160"/>
            <a:ext cx="10881360" cy="45720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≈70× faster training and ≈2200× faster rendering than the quality leader, at parity on SSIM and LPIPS.</a:t>
            </a:r>
            <a:endParaRPr lang="en-US" sz="1700" dirty="0"/>
          </a:p>
        </p:txBody>
      </p:sp>
      <p:sp>
        <p:nvSpPr>
          <p:cNvPr id="6" name="Text 3"/>
          <p:cNvSpPr txBox="1"/>
          <p:nvPr/>
        </p:nvSpPr>
        <p:spPr>
          <a:xfrm>
            <a:off x="640080" y="5212080"/>
            <a:ext cx="10881360" cy="10058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The price is memory: hundreds of megabytes against Instant-NGP's tens. This is what the entire 3DGS compression literature exists to attack.</a:t>
            </a:r>
            <a:endParaRPr lang="en-US" sz="1350" dirty="0"/>
          </a:p>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Peak training memory can exceed 20 GB on large scenes — the practical constraint on any student project in this area. Mip-NeRF 360 was trained on 4×A100 for 12 h; 48 h is the single-GPU equivalent.</a:t>
            </a:r>
            <a:endParaRPr lang="en-US" sz="1350" dirty="0"/>
          </a:p>
        </p:txBody>
      </p:sp>
      <p:sp>
        <p:nvSpPr>
          <p:cNvPr id="7" name="Text 4"/>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 · 3DGS</a:t>
            </a:r>
            <a:endParaRPr lang="en-US" sz="950" dirty="0"/>
          </a:p>
        </p:txBody>
      </p:sp>
      <p:sp>
        <p:nvSpPr>
          <p:cNvPr id="8" name="Text 5"/>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3DGS · EVALUATION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What the ablations actually show</a:t>
            </a:r>
            <a:endParaRPr lang="en-US" sz="3200" dirty="0"/>
          </a:p>
        </p:txBody>
      </p:sp>
      <p:sp>
        <p:nvSpPr>
          <p:cNvPr id="4" name="Text 2"/>
          <p:cNvSpPr txBox="1"/>
          <p:nvPr/>
        </p:nvSpPr>
        <p:spPr>
          <a:xfrm>
            <a:off x="640080" y="1691640"/>
            <a:ext cx="3291840" cy="365760"/>
          </a:xfrm>
          <a:prstGeom prst="rect">
            <a:avLst/>
          </a:prstGeom>
          <a:noFill/>
          <a:ln/>
        </p:spPr>
        <p:txBody>
          <a:bodyPr wrap="square" lIns="0" tIns="0" rIns="0" bIns="0" rtlCol="0" anchor="ctr"/>
          <a:lstStyle/>
          <a:p>
            <a:pPr indent="0" marL="0">
              <a:buNone/>
            </a:pPr>
            <a:r>
              <a:rPr lang="en-US" sz="1700" b="1" dirty="0">
                <a:solidFill>
                  <a:srgbClr val="C2582B"/>
                </a:solidFill>
                <a:latin typeface="Cambria" pitchFamily="34" charset="0"/>
                <a:ea typeface="Cambria" pitchFamily="34" charset="-122"/>
                <a:cs typeface="Cambria" pitchFamily="34" charset="-120"/>
              </a:rPr>
              <a:t>Limited backward pass</a:t>
            </a:r>
            <a:endParaRPr lang="en-US" sz="1700" dirty="0"/>
          </a:p>
        </p:txBody>
      </p:sp>
      <p:sp>
        <p:nvSpPr>
          <p:cNvPr id="5" name="Text 3"/>
          <p:cNvSpPr txBox="1"/>
          <p:nvPr/>
        </p:nvSpPr>
        <p:spPr>
          <a:xfrm>
            <a:off x="4206240" y="1673352"/>
            <a:ext cx="7315200" cy="86868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Capping gradients at the 10 front-most splats (as Pulsar does) cost 11 dB PSNR on Truck. Unbounded depth complexity is not an optimisation — it is load-bearing.</a:t>
            </a:r>
            <a:endParaRPr lang="en-US" sz="1350" dirty="0"/>
          </a:p>
        </p:txBody>
      </p:sp>
      <p:sp>
        <p:nvSpPr>
          <p:cNvPr id="6" name="Shape 4"/>
          <p:cNvSpPr/>
          <p:nvPr/>
        </p:nvSpPr>
        <p:spPr>
          <a:xfrm>
            <a:off x="640080" y="2542032"/>
            <a:ext cx="10881360" cy="0"/>
          </a:xfrm>
          <a:prstGeom prst="line">
            <a:avLst/>
          </a:prstGeom>
          <a:noFill/>
          <a:ln w="9525">
            <a:solidFill>
              <a:srgbClr val="D5DCE5"/>
            </a:solidFill>
            <a:prstDash val="solid"/>
          </a:ln>
        </p:spPr>
      </p:sp>
      <p:sp>
        <p:nvSpPr>
          <p:cNvPr id="7" name="Text 5"/>
          <p:cNvSpPr txBox="1"/>
          <p:nvPr/>
        </p:nvSpPr>
        <p:spPr>
          <a:xfrm>
            <a:off x="640080" y="2724912"/>
            <a:ext cx="3291840" cy="365760"/>
          </a:xfrm>
          <a:prstGeom prst="rect">
            <a:avLst/>
          </a:prstGeom>
          <a:noFill/>
          <a:ln/>
        </p:spPr>
        <p:txBody>
          <a:bodyPr wrap="square" lIns="0" tIns="0" rIns="0" bIns="0" rtlCol="0" anchor="ctr"/>
          <a:lstStyle/>
          <a:p>
            <a:pPr indent="0" marL="0">
              <a:buNone/>
            </a:pPr>
            <a:r>
              <a:rPr lang="en-US" sz="1700" b="1" dirty="0">
                <a:solidFill>
                  <a:srgbClr val="C2582B"/>
                </a:solidFill>
                <a:latin typeface="Cambria" pitchFamily="34" charset="0"/>
                <a:ea typeface="Cambria" pitchFamily="34" charset="-122"/>
                <a:cs typeface="Cambria" pitchFamily="34" charset="-120"/>
              </a:rPr>
              <a:t>Isotropic covariance</a:t>
            </a:r>
            <a:endParaRPr lang="en-US" sz="1700" dirty="0"/>
          </a:p>
        </p:txBody>
      </p:sp>
      <p:sp>
        <p:nvSpPr>
          <p:cNvPr id="8" name="Text 6"/>
          <p:cNvSpPr txBox="1"/>
          <p:nvPr/>
        </p:nvSpPr>
        <p:spPr>
          <a:xfrm>
            <a:off x="4206240" y="2706624"/>
            <a:ext cx="7315200" cy="86868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Forcing one radius per Gaussian visibly destroys thin structures. Anisotropy is the reason the representation is compact.</a:t>
            </a:r>
            <a:endParaRPr lang="en-US" sz="1350" dirty="0"/>
          </a:p>
        </p:txBody>
      </p:sp>
      <p:sp>
        <p:nvSpPr>
          <p:cNvPr id="9" name="Shape 7"/>
          <p:cNvSpPr/>
          <p:nvPr/>
        </p:nvSpPr>
        <p:spPr>
          <a:xfrm>
            <a:off x="640080" y="3575304"/>
            <a:ext cx="10881360" cy="0"/>
          </a:xfrm>
          <a:prstGeom prst="line">
            <a:avLst/>
          </a:prstGeom>
          <a:noFill/>
          <a:ln w="9525">
            <a:solidFill>
              <a:srgbClr val="D5DCE5"/>
            </a:solidFill>
            <a:prstDash val="solid"/>
          </a:ln>
        </p:spPr>
      </p:sp>
      <p:sp>
        <p:nvSpPr>
          <p:cNvPr id="10" name="Text 8"/>
          <p:cNvSpPr txBox="1"/>
          <p:nvPr/>
        </p:nvSpPr>
        <p:spPr>
          <a:xfrm>
            <a:off x="640080" y="3758184"/>
            <a:ext cx="3291840" cy="36576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Random initialisation</a:t>
            </a:r>
            <a:endParaRPr lang="en-US" sz="1700" dirty="0"/>
          </a:p>
        </p:txBody>
      </p:sp>
      <p:sp>
        <p:nvSpPr>
          <p:cNvPr id="11" name="Text 9"/>
          <p:cNvSpPr txBox="1"/>
          <p:nvPr/>
        </p:nvSpPr>
        <p:spPr>
          <a:xfrm>
            <a:off x="4206240" y="3739896"/>
            <a:ext cx="7315200" cy="86868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Works, but degrades in the background and leaves floaters that optimisation cannot remove. SfM points matter most where views are sparse.</a:t>
            </a:r>
            <a:endParaRPr lang="en-US" sz="1350" dirty="0"/>
          </a:p>
        </p:txBody>
      </p:sp>
      <p:sp>
        <p:nvSpPr>
          <p:cNvPr id="12" name="Shape 10"/>
          <p:cNvSpPr/>
          <p:nvPr/>
        </p:nvSpPr>
        <p:spPr>
          <a:xfrm>
            <a:off x="640080" y="4608576"/>
            <a:ext cx="10881360" cy="0"/>
          </a:xfrm>
          <a:prstGeom prst="line">
            <a:avLst/>
          </a:prstGeom>
          <a:noFill/>
          <a:ln w="9525">
            <a:solidFill>
              <a:srgbClr val="D5DCE5"/>
            </a:solidFill>
            <a:prstDash val="solid"/>
          </a:ln>
        </p:spPr>
      </p:sp>
      <p:sp>
        <p:nvSpPr>
          <p:cNvPr id="13" name="Text 11"/>
          <p:cNvSpPr txBox="1"/>
          <p:nvPr/>
        </p:nvSpPr>
        <p:spPr>
          <a:xfrm>
            <a:off x="640080" y="4791456"/>
            <a:ext cx="3291840" cy="365760"/>
          </a:xfrm>
          <a:prstGeom prst="rect">
            <a:avLst/>
          </a:prstGeom>
          <a:noFill/>
          <a:ln/>
        </p:spPr>
        <p:txBody>
          <a:bodyPr wrap="square" lIns="0" tIns="0" rIns="0" bIns="0" rtlCol="0" anchor="ctr"/>
          <a:lstStyle/>
          <a:p>
            <a:pPr indent="0" marL="0">
              <a:buNone/>
            </a:pPr>
            <a:r>
              <a:rPr lang="en-US" sz="1700" b="1" dirty="0">
                <a:solidFill>
                  <a:srgbClr val="16202F"/>
                </a:solidFill>
                <a:latin typeface="Cambria" pitchFamily="34" charset="0"/>
                <a:ea typeface="Cambria" pitchFamily="34" charset="-122"/>
                <a:cs typeface="Cambria" pitchFamily="34" charset="-120"/>
              </a:rPr>
              <a:t>No split / no clone</a:t>
            </a:r>
            <a:endParaRPr lang="en-US" sz="1700" dirty="0"/>
          </a:p>
        </p:txBody>
      </p:sp>
      <p:sp>
        <p:nvSpPr>
          <p:cNvPr id="14" name="Text 12"/>
          <p:cNvSpPr txBox="1"/>
          <p:nvPr/>
        </p:nvSpPr>
        <p:spPr>
          <a:xfrm>
            <a:off x="4206240" y="4773168"/>
            <a:ext cx="7315200" cy="86868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Without split, backgrounds fail. Without clone, thin structures converge slowly. Two different failure modes, one shared trigger.</a:t>
            </a:r>
            <a:endParaRPr lang="en-US" sz="1350" dirty="0"/>
          </a:p>
        </p:txBody>
      </p:sp>
      <p:sp>
        <p:nvSpPr>
          <p:cNvPr id="15" name="Shape 13"/>
          <p:cNvSpPr/>
          <p:nvPr/>
        </p:nvSpPr>
        <p:spPr>
          <a:xfrm>
            <a:off x="640080" y="5641848"/>
            <a:ext cx="10881360" cy="0"/>
          </a:xfrm>
          <a:prstGeom prst="line">
            <a:avLst/>
          </a:prstGeom>
          <a:noFill/>
          <a:ln w="9525">
            <a:solidFill>
              <a:srgbClr val="D5DCE5"/>
            </a:solidFill>
            <a:prstDash val="solid"/>
          </a:ln>
        </p:spPr>
      </p:sp>
      <p:sp>
        <p:nvSpPr>
          <p:cNvPr id="16" name="Text 14"/>
          <p:cNvSpPr txBox="1"/>
          <p:nvPr/>
        </p:nvSpPr>
        <p:spPr>
          <a:xfrm>
            <a:off x="640080" y="5760720"/>
            <a:ext cx="10881360" cy="457200"/>
          </a:xfrm>
          <a:prstGeom prst="rect">
            <a:avLst/>
          </a:prstGeom>
          <a:noFill/>
          <a:ln/>
        </p:spPr>
        <p:txBody>
          <a:bodyPr wrap="square" lIns="0" tIns="0" rIns="0" bIns="0" rtlCol="0" anchor="ctr"/>
          <a:lstStyle/>
          <a:p>
            <a:pPr indent="0" marL="0">
              <a:buNone/>
            </a:pPr>
            <a:r>
              <a:rPr lang="en-US" sz="1550" i="1" dirty="0">
                <a:solidFill>
                  <a:srgbClr val="0D5F68"/>
                </a:solidFill>
                <a:latin typeface="Cambria" pitchFamily="34" charset="0"/>
                <a:ea typeface="Cambria" pitchFamily="34" charset="-122"/>
                <a:cs typeface="Cambria" pitchFamily="34" charset="-120"/>
              </a:rPr>
              <a:t>Read together: the parts of 3DGS that were derived hold up. The parts that were scheduled are where the failures live.</a:t>
            </a:r>
            <a:endParaRPr lang="en-US" sz="1550" dirty="0"/>
          </a:p>
        </p:txBody>
      </p:sp>
      <p:sp>
        <p:nvSpPr>
          <p:cNvPr id="17" name="Text 15"/>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 · 3DGS</a:t>
            </a:r>
            <a:endParaRPr lang="en-US" sz="950" dirty="0"/>
          </a:p>
        </p:txBody>
      </p:sp>
      <p:sp>
        <p:nvSpPr>
          <p:cNvPr id="18" name="Text 16"/>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3DGS · §7.4</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Limitations the authors state themselves</a:t>
            </a:r>
            <a:endParaRPr lang="en-US" sz="3200" dirty="0"/>
          </a:p>
        </p:txBody>
      </p:sp>
      <p:sp>
        <p:nvSpPr>
          <p:cNvPr id="4" name="Text 2"/>
          <p:cNvSpPr txBox="1"/>
          <p:nvPr/>
        </p:nvSpPr>
        <p:spPr>
          <a:xfrm>
            <a:off x="640080" y="1737360"/>
            <a:ext cx="402336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Artifacts in under-observed regions</a:t>
            </a:r>
            <a:endParaRPr lang="en-US" sz="1650" dirty="0"/>
          </a:p>
        </p:txBody>
      </p:sp>
      <p:sp>
        <p:nvSpPr>
          <p:cNvPr id="5" name="Text 3"/>
          <p:cNvSpPr txBox="1"/>
          <p:nvPr/>
        </p:nvSpPr>
        <p:spPr>
          <a:xfrm>
            <a:off x="4937760" y="1719072"/>
            <a:ext cx="6583680" cy="777240"/>
          </a:xfrm>
          <a:prstGeom prst="rect">
            <a:avLst/>
          </a:prstGeom>
          <a:noFill/>
          <a:ln/>
        </p:spPr>
        <p:txBody>
          <a:bodyPr wrap="square" lIns="0" tIns="0" rIns="0" bIns="0" rtlCol="0" anchor="ctr"/>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Elongated, splotchy Gaussians where coverage is poor.</a:t>
            </a:r>
            <a:endParaRPr lang="en-US" sz="1300" dirty="0"/>
          </a:p>
        </p:txBody>
      </p:sp>
      <p:sp>
        <p:nvSpPr>
          <p:cNvPr id="6" name="Text 4"/>
          <p:cNvSpPr txBox="1"/>
          <p:nvPr/>
        </p:nvSpPr>
        <p:spPr>
          <a:xfrm>
            <a:off x="640080" y="2606040"/>
            <a:ext cx="402336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Popping</a:t>
            </a:r>
            <a:endParaRPr lang="en-US" sz="1650" dirty="0"/>
          </a:p>
        </p:txBody>
      </p:sp>
      <p:sp>
        <p:nvSpPr>
          <p:cNvPr id="7" name="Text 5"/>
          <p:cNvSpPr txBox="1"/>
          <p:nvPr/>
        </p:nvSpPr>
        <p:spPr>
          <a:xfrm>
            <a:off x="4937760" y="2587752"/>
            <a:ext cx="6583680" cy="777240"/>
          </a:xfrm>
          <a:prstGeom prst="rect">
            <a:avLst/>
          </a:prstGeom>
          <a:noFill/>
          <a:ln/>
        </p:spPr>
        <p:txBody>
          <a:bodyPr wrap="square" lIns="0" tIns="0" rIns="0" bIns="0" rtlCol="0" anchor="ctr"/>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Large Gaussians suddenly switching blend order; the guard-band rejection is named as one cause.</a:t>
            </a:r>
            <a:endParaRPr lang="en-US" sz="1300" dirty="0"/>
          </a:p>
        </p:txBody>
      </p:sp>
      <p:sp>
        <p:nvSpPr>
          <p:cNvPr id="8" name="Text 6"/>
          <p:cNvSpPr txBox="1"/>
          <p:nvPr/>
        </p:nvSpPr>
        <p:spPr>
          <a:xfrm>
            <a:off x="640080" y="3474720"/>
            <a:ext cx="402336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No regularisation</a:t>
            </a:r>
            <a:endParaRPr lang="en-US" sz="1650" dirty="0"/>
          </a:p>
        </p:txBody>
      </p:sp>
      <p:sp>
        <p:nvSpPr>
          <p:cNvPr id="9" name="Text 7"/>
          <p:cNvSpPr txBox="1"/>
          <p:nvPr/>
        </p:nvSpPr>
        <p:spPr>
          <a:xfrm>
            <a:off x="4937760" y="3456432"/>
            <a:ext cx="6583680" cy="777240"/>
          </a:xfrm>
          <a:prstGeom prst="rect">
            <a:avLst/>
          </a:prstGeom>
          <a:noFill/>
          <a:ln/>
        </p:spPr>
        <p:txBody>
          <a:bodyPr wrap="square" lIns="0" tIns="0" rIns="0" bIns="0" rtlCol="0" anchor="ctr"/>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"We currently do not apply any regularization to our optimization; doing so would help with both the unseen region and popping artifacts."</a:t>
            </a:r>
            <a:endParaRPr lang="en-US" sz="1300" dirty="0"/>
          </a:p>
        </p:txBody>
      </p:sp>
      <p:sp>
        <p:nvSpPr>
          <p:cNvPr id="10" name="Text 8"/>
          <p:cNvSpPr txBox="1"/>
          <p:nvPr/>
        </p:nvSpPr>
        <p:spPr>
          <a:xfrm>
            <a:off x="640080" y="4343400"/>
            <a:ext cx="402336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Memory</a:t>
            </a:r>
            <a:endParaRPr lang="en-US" sz="1650" dirty="0"/>
          </a:p>
        </p:txBody>
      </p:sp>
      <p:sp>
        <p:nvSpPr>
          <p:cNvPr id="11" name="Text 9"/>
          <p:cNvSpPr txBox="1"/>
          <p:nvPr/>
        </p:nvSpPr>
        <p:spPr>
          <a:xfrm>
            <a:off x="4937760" y="4325112"/>
            <a:ext cx="6583680" cy="777240"/>
          </a:xfrm>
          <a:prstGeom prst="rect">
            <a:avLst/>
          </a:prstGeom>
          <a:noFill/>
          <a:ln/>
        </p:spPr>
        <p:txBody>
          <a:bodyPr wrap="square" lIns="0" tIns="0" rIns="0" bIns="0" rtlCol="0" anchor="ctr"/>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Hundreds of MB per scene; &gt;20 GB peak during training.</a:t>
            </a:r>
            <a:endParaRPr lang="en-US" sz="1300" dirty="0"/>
          </a:p>
        </p:txBody>
      </p:sp>
      <p:sp>
        <p:nvSpPr>
          <p:cNvPr id="12" name="Text 10"/>
          <p:cNvSpPr txBox="1"/>
          <p:nvPr/>
        </p:nvSpPr>
        <p:spPr>
          <a:xfrm>
            <a:off x="640080" y="5212080"/>
            <a:ext cx="402336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Hyperparameter fragility</a:t>
            </a:r>
            <a:endParaRPr lang="en-US" sz="1650" dirty="0"/>
          </a:p>
        </p:txBody>
      </p:sp>
      <p:sp>
        <p:nvSpPr>
          <p:cNvPr id="13" name="Text 11"/>
          <p:cNvSpPr txBox="1"/>
          <p:nvPr/>
        </p:nvSpPr>
        <p:spPr>
          <a:xfrm>
            <a:off x="4937760" y="5193792"/>
            <a:ext cx="6583680" cy="777240"/>
          </a:xfrm>
          <a:prstGeom prst="rect">
            <a:avLst/>
          </a:prstGeom>
          <a:noFill/>
          <a:ln/>
        </p:spPr>
        <p:txBody>
          <a:bodyPr wrap="square" lIns="0" tIns="0" rIns="0" bIns="0" rtlCol="0" anchor="ctr"/>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Position learning rate must be reduced by hand for very large scenes.</a:t>
            </a:r>
            <a:endParaRPr lang="en-US" sz="1300" dirty="0"/>
          </a:p>
        </p:txBody>
      </p:sp>
      <p:sp>
        <p:nvSpPr>
          <p:cNvPr id="14" name="Text 12"/>
          <p:cNvSpPr txBox="1"/>
          <p:nvPr/>
        </p:nvSpPr>
        <p:spPr>
          <a:xfrm>
            <a:off x="640080" y="5806440"/>
            <a:ext cx="10881360" cy="457200"/>
          </a:xfrm>
          <a:prstGeom prst="rect">
            <a:avLst/>
          </a:prstGeom>
          <a:noFill/>
          <a:ln/>
        </p:spPr>
        <p:txBody>
          <a:bodyPr wrap="square" lIns="0" tIns="0" rIns="0" bIns="0" rtlCol="0" anchor="ctr"/>
          <a:lstStyle/>
          <a:p>
            <a:pPr indent="0" marL="0">
              <a:buNone/>
            </a:pPr>
            <a:r>
              <a:rPr lang="en-US" sz="1600" i="1" dirty="0">
                <a:solidFill>
                  <a:srgbClr val="E9814F"/>
                </a:solidFill>
                <a:latin typeface="Cambria" pitchFamily="34" charset="0"/>
                <a:ea typeface="Cambria" pitchFamily="34" charset="-122"/>
                <a:cs typeface="Cambria" pitchFamily="34" charset="-120"/>
              </a:rPr>
              <a:t>Three of these five are symptoms of one cause: nothing tells the model how much detail the data support.</a:t>
            </a:r>
            <a:endParaRPr lang="en-US" sz="1600" dirty="0"/>
          </a:p>
        </p:txBody>
      </p:sp>
      <p:sp>
        <p:nvSpPr>
          <p:cNvPr id="15" name="Text 13"/>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II · 3DGS</a:t>
            </a:r>
            <a:endParaRPr lang="en-US" sz="950" dirty="0"/>
          </a:p>
        </p:txBody>
      </p:sp>
      <p:sp>
        <p:nvSpPr>
          <p:cNvPr id="16" name="Text 1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2286000"/>
            <a:ext cx="10881360" cy="320040"/>
          </a:xfrm>
          <a:prstGeom prst="rect">
            <a:avLst/>
          </a:prstGeom>
          <a:noFill/>
          <a:ln/>
        </p:spPr>
        <p:txBody>
          <a:bodyPr wrap="square" lIns="0" tIns="0" rIns="0" bIns="0" rtlCol="0" anchor="ctr"/>
          <a:lstStyle/>
          <a:p>
            <a:pPr indent="0" marL="0">
              <a:buNone/>
            </a:pPr>
            <a:r>
              <a:rPr lang="en-US" sz="1200" b="1" spc="260" kern="0" dirty="0">
                <a:solidFill>
                  <a:srgbClr val="E9814F"/>
                </a:solidFill>
                <a:latin typeface="Calibri" pitchFamily="34" charset="0"/>
                <a:ea typeface="Calibri" pitchFamily="34" charset="-122"/>
                <a:cs typeface="Calibri" pitchFamily="34" charset="-120"/>
              </a:rPr>
              <a:t>PART III</a:t>
            </a:r>
            <a:endParaRPr lang="en-US" sz="1200" dirty="0"/>
          </a:p>
        </p:txBody>
      </p:sp>
      <p:sp>
        <p:nvSpPr>
          <p:cNvPr id="3" name="Text 1"/>
          <p:cNvSpPr txBox="1"/>
          <p:nvPr/>
        </p:nvSpPr>
        <p:spPr>
          <a:xfrm>
            <a:off x="640080" y="2697480"/>
            <a:ext cx="1088136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Three years of follow-up — and one gap</a:t>
            </a:r>
            <a:endParaRPr lang="en-US" sz="4200" dirty="0"/>
          </a:p>
        </p:txBody>
      </p:sp>
      <p:sp>
        <p:nvSpPr>
          <p:cNvPr id="4" name="Text 2"/>
          <p:cNvSpPr txBox="1"/>
          <p:nvPr/>
        </p:nvSpPr>
        <p:spPr>
          <a:xfrm>
            <a:off x="640080" y="3703320"/>
            <a:ext cx="8778240" cy="457200"/>
          </a:xfrm>
          <a:prstGeom prst="rect">
            <a:avLst/>
          </a:prstGeom>
          <a:noFill/>
          <a:ln/>
        </p:spPr>
        <p:txBody>
          <a:bodyPr wrap="square" lIns="0" tIns="0" rIns="0" bIns="0" rtlCol="0" anchor="ctr"/>
          <a:lstStyle/>
          <a:p>
            <a:pPr indent="0" marL="0">
              <a:buNone/>
            </a:pPr>
            <a:r>
              <a:rPr lang="en-US" sz="1800" i="1" dirty="0">
                <a:solidFill>
                  <a:srgbClr val="9DACC0"/>
                </a:solidFill>
                <a:latin typeface="Cambria" pitchFamily="34" charset="0"/>
                <a:ea typeface="Cambria" pitchFamily="34" charset="-122"/>
                <a:cs typeface="Cambria" pitchFamily="34" charset="-120"/>
              </a:rPr>
              <a:t>Where the field went after SIGGRAPH 2023, and what nobody fixed.</a:t>
            </a:r>
            <a:endParaRPr lang="en-US" sz="1800" dirty="0"/>
          </a:p>
        </p:txBody>
      </p:sp>
      <p:sp>
        <p:nvSpPr>
          <p:cNvPr id="5"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endParaRPr lang="en-US" sz="950" dirty="0"/>
          </a:p>
        </p:txBody>
      </p:sp>
      <p:sp>
        <p:nvSpPr>
          <p:cNvPr id="6"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SCOPE OF THE CLAIM</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What I have verified — and what I have not</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5486400"/>
                <a:gridCol w="3291840"/>
                <a:gridCol w="2103120"/>
              </a:tblGrid>
              <a:tr h="42976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Checked against</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Every 3DGS equation, hyperparameter and result quoted here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The paper, in full</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Every NeRF equation, hyperparameter and ablation quoted here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The paper, in full</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Mip-Splatting's filter equations and sampling-rate definition</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The paper</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The filter is one scalar per Gaussian, on all three axes</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scene/gaussian_model.py</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Recompute cadence (~290 times per 30 K run)</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train.py</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That no one else has made this filter anisotropic</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 not yet checked —</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That SH degree is not already set per Gaussian from coverage</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 not yet checked —</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02F"/>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532120"/>
            <a:ext cx="10881360" cy="685800"/>
          </a:xfrm>
          <a:prstGeom prst="rect">
            <a:avLst/>
          </a:prstGeom>
          <a:noFill/>
          <a:ln/>
        </p:spPr>
        <p:txBody>
          <a:bodyPr wrap="square" lIns="0" tIns="0" rIns="0" bIns="0" rtlCol="0" anchor="ctr"/>
          <a:lstStyle/>
          <a:p>
            <a:pPr indent="0" marL="0">
              <a:lnSpc>
                <a:spcPts val="2300"/>
              </a:lnSpc>
              <a:buNone/>
            </a:pPr>
            <a:r>
              <a:rPr lang="en-US" sz="1500" i="1" dirty="0">
                <a:solidFill>
                  <a:srgbClr val="0D5F68"/>
                </a:solidFill>
                <a:latin typeface="Cambria" pitchFamily="34" charset="0"/>
                <a:ea typeface="Cambria" pitchFamily="34" charset="-122"/>
                <a:cs typeface="Cambria" pitchFamily="34" charset="-120"/>
              </a:rPr>
              <a:t>The two open rows are the first fortnight's work. They are the only things that can invalidate the project — cheap to settle in September, ruinous to discover in March.</a:t>
            </a:r>
            <a:endParaRPr lang="en-US" sz="1500" dirty="0"/>
          </a:p>
        </p:txBody>
      </p:sp>
      <p:sp>
        <p:nvSpPr>
          <p:cNvPr id="6"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III · The gap</a:t>
            </a:r>
            <a:endParaRPr lang="en-US" sz="950" dirty="0"/>
          </a:p>
        </p:txBody>
      </p:sp>
      <p:sp>
        <p:nvSpPr>
          <p:cNvPr id="7"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THE DIRECT BASELINE</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Mip-Splatting: the closest anyone has come</a:t>
            </a:r>
            <a:endParaRPr lang="en-US" sz="3200" dirty="0"/>
          </a:p>
        </p:txBody>
      </p:sp>
      <p:sp>
        <p:nvSpPr>
          <p:cNvPr id="4" name="Text 2"/>
          <p:cNvSpPr txBox="1"/>
          <p:nvPr/>
        </p:nvSpPr>
        <p:spPr>
          <a:xfrm>
            <a:off x="640080" y="1737360"/>
            <a:ext cx="10881360" cy="182880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CVPR 2024 Best Student Paper. Diagnosis: 3DGS Gaussians can shrink below the sampling limit of the training views, so changing the test-time scale produces erosion or dilation artifacts.</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Fix 1 — a 3D smoothing filter that caps each Gaussian's size by the maximal sampling rate the input views induce.</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Fix 2 — a 2D Mip filter replacing the fixed screen-space dilation, approximating a one-pixel box filter.</a:t>
            </a:r>
            <a:endParaRPr lang="en-US" sz="1450" dirty="0"/>
          </a:p>
        </p:txBody>
      </p:sp>
      <p:sp>
        <p:nvSpPr>
          <p:cNvPr id="5" name="Shape 3"/>
          <p:cNvSpPr/>
          <p:nvPr/>
        </p:nvSpPr>
        <p:spPr>
          <a:xfrm>
            <a:off x="640080" y="3200400"/>
            <a:ext cx="10881360" cy="1234440"/>
          </a:xfrm>
          <a:prstGeom prst="rect">
            <a:avLst/>
          </a:prstGeom>
          <a:solidFill>
            <a:srgbClr val="F1F4F8"/>
          </a:solidFill>
          <a:ln w="9525">
            <a:solidFill>
              <a:srgbClr val="D5DCE5"/>
            </a:solidFill>
            <a:prstDash val="solid"/>
          </a:ln>
        </p:spPr>
      </p:sp>
      <p:sp>
        <p:nvSpPr>
          <p:cNvPr id="6" name="Text 4"/>
          <p:cNvSpPr txBox="1"/>
          <p:nvPr/>
        </p:nvSpPr>
        <p:spPr>
          <a:xfrm>
            <a:off x="914400" y="3401568"/>
            <a:ext cx="10332720" cy="832104"/>
          </a:xfrm>
          <a:prstGeom prst="rect">
            <a:avLst/>
          </a:prstGeom>
          <a:noFill/>
          <a:ln/>
        </p:spPr>
        <p:txBody>
          <a:bodyPr wrap="square" lIns="0" tIns="0" rIns="0" bIns="0" rtlCol="0" anchor="t"/>
          <a:lstStyle/>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ν̂_k = max_n ( 1_n(p_k) · f_n / d_n )       maximal sampling rate over the N training views</a:t>
            </a:r>
            <a:endParaRPr lang="en-US" sz="1300" dirty="0"/>
          </a:p>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Σ_k ← Σ_k + (s / ν̂_k²) · I ,  s = 0.2      a SCALAR multiple of the identity</a:t>
            </a:r>
            <a:endParaRPr lang="en-US" sz="1300" dirty="0"/>
          </a:p>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α_k ← α_k · sqrt( |Σ_k| / |Σ_k + ·I| )      energy-preserving opacity correction</a:t>
            </a:r>
            <a:endParaRPr lang="en-US" sz="1300" dirty="0"/>
          </a:p>
        </p:txBody>
      </p:sp>
      <p:sp>
        <p:nvSpPr>
          <p:cNvPr id="7" name="Text 5"/>
          <p:cNvSpPr txBox="1"/>
          <p:nvPr/>
        </p:nvSpPr>
        <p:spPr>
          <a:xfrm>
            <a:off x="640080" y="4617720"/>
            <a:ext cx="10881360" cy="457200"/>
          </a:xfrm>
          <a:prstGeom prst="rect">
            <a:avLst/>
          </a:prstGeom>
          <a:noFill/>
          <a:ln/>
        </p:spPr>
        <p:txBody>
          <a:bodyPr wrap="square" lIns="0" tIns="0" rIns="0" bIns="0" rtlCol="0" anchor="ctr"/>
          <a:lstStyle/>
          <a:p>
            <a:pPr indent="0" marL="0">
              <a:buNone/>
            </a:pPr>
            <a:r>
              <a:rPr lang="en-US" sz="2200" b="1" dirty="0">
                <a:solidFill>
                  <a:srgbClr val="C2582B"/>
                </a:solidFill>
                <a:latin typeface="Cambria" pitchFamily="34" charset="0"/>
                <a:ea typeface="Cambria" pitchFamily="34" charset="-122"/>
                <a:cs typeface="Cambria" pitchFamily="34" charset="-120"/>
              </a:rPr>
              <a:t>It is the right idea. It is a scalar, from one camera.</a:t>
            </a:r>
            <a:endParaRPr lang="en-US" sz="2200" dirty="0"/>
          </a:p>
        </p:txBody>
      </p:sp>
      <p:sp>
        <p:nvSpPr>
          <p:cNvPr id="8" name="Text 6"/>
          <p:cNvSpPr txBox="1"/>
          <p:nvPr/>
        </p:nvSpPr>
        <p:spPr>
          <a:xfrm>
            <a:off x="640080" y="5120640"/>
            <a:ext cx="10881360" cy="105156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ν̂ is a max over views, and the code takes min-depth and max-focal independently — so only the single most favourable view enters, and the configuration of every other camera is discarded.</a:t>
            </a:r>
            <a:endParaRPr lang="en-US" sz="1350" dirty="0"/>
          </a:p>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That is correct only if the capture is isotropic. Standard benchmarks mostly are, which is why the approximation has gone unchallenged.</a:t>
            </a:r>
            <a:endParaRPr lang="en-US" sz="1350" dirty="0"/>
          </a:p>
        </p:txBody>
      </p:sp>
      <p:sp>
        <p:nvSpPr>
          <p:cNvPr id="9" name="Text 7"/>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III · The gap</a:t>
            </a:r>
            <a:endParaRPr lang="en-US" sz="950" dirty="0"/>
          </a:p>
        </p:txBody>
      </p:sp>
      <p:sp>
        <p:nvSpPr>
          <p:cNvPr id="10" name="Text 8"/>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MIP-SPLATTING / SCENE/GAUSSIAN_MODEL.PY</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gap, from the baseline's own source</a:t>
            </a:r>
            <a:endParaRPr lang="en-US" sz="3200" dirty="0"/>
          </a:p>
        </p:txBody>
      </p:sp>
      <p:sp>
        <p:nvSpPr>
          <p:cNvPr id="4" name="Shape 2"/>
          <p:cNvSpPr/>
          <p:nvPr/>
        </p:nvSpPr>
        <p:spPr>
          <a:xfrm>
            <a:off x="640080" y="1691640"/>
            <a:ext cx="10881360" cy="1965960"/>
          </a:xfrm>
          <a:prstGeom prst="rect">
            <a:avLst/>
          </a:prstGeom>
          <a:solidFill>
            <a:srgbClr val="18202E"/>
          </a:solidFill>
          <a:ln w="9525">
            <a:solidFill>
              <a:srgbClr val="2A3546"/>
            </a:solidFill>
            <a:prstDash val="solid"/>
          </a:ln>
        </p:spPr>
      </p:sp>
      <p:sp>
        <p:nvSpPr>
          <p:cNvPr id="5" name="Text 3"/>
          <p:cNvSpPr txBox="1"/>
          <p:nvPr/>
        </p:nvSpPr>
        <p:spPr>
          <a:xfrm>
            <a:off x="914400" y="1892808"/>
            <a:ext cx="10332720" cy="1563624"/>
          </a:xfrm>
          <a:prstGeom prst="rect">
            <a:avLst/>
          </a:prstGeom>
          <a:noFill/>
          <a:ln/>
        </p:spPr>
        <p:txBody>
          <a:bodyPr wrap="square" lIns="0" tIns="0" rIns="0" bIns="0" rtlCol="0" anchor="t"/>
          <a:lstStyle/>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distance[valid] = torch.min(distance[valid], z[valid])      # min depth over ALL cameras</a:t>
            </a: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if focal_length &lt; camera.focal_x: focal_length = ...        # max focal, one global scalar</a:t>
            </a: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filter_3D = distance / focal_length * (0.2 ** 0.5)</a:t>
            </a: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self.filter_3D = filter_3D[..., None]                       # shape [N, 1] — ONE number</a:t>
            </a:r>
            <a:endParaRPr lang="en-US" sz="1300" dirty="0"/>
          </a:p>
          <a:p>
            <a:pPr indent="0" marL="0">
              <a:lnSpc>
                <a:spcPts val="2100"/>
              </a:lnSpc>
              <a:buNone/>
            </a:pP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 still in main:   #TODO consider focal length and image width</a:t>
            </a:r>
            <a:endParaRPr lang="en-US" sz="1300" dirty="0"/>
          </a:p>
        </p:txBody>
      </p:sp>
      <p:sp>
        <p:nvSpPr>
          <p:cNvPr id="6" name="Shape 4"/>
          <p:cNvSpPr/>
          <p:nvPr/>
        </p:nvSpPr>
        <p:spPr>
          <a:xfrm>
            <a:off x="640080" y="3931920"/>
            <a:ext cx="3429000" cy="1920240"/>
          </a:xfrm>
          <a:prstGeom prst="roundRect">
            <a:avLst>
              <a:gd name="adj" fmla="val 2857"/>
            </a:avLst>
          </a:prstGeom>
          <a:solidFill>
            <a:srgbClr val="18202E"/>
          </a:solidFill>
          <a:ln w="9525">
            <a:solidFill>
              <a:srgbClr val="2A3546"/>
            </a:solidFill>
            <a:prstDash val="solid"/>
          </a:ln>
        </p:spPr>
      </p:sp>
      <p:sp>
        <p:nvSpPr>
          <p:cNvPr id="7" name="Text 5"/>
          <p:cNvSpPr txBox="1"/>
          <p:nvPr/>
        </p:nvSpPr>
        <p:spPr>
          <a:xfrm>
            <a:off x="896112" y="4133088"/>
            <a:ext cx="2916936" cy="310896"/>
          </a:xfrm>
          <a:prstGeom prst="rect">
            <a:avLst/>
          </a:prstGeom>
          <a:noFill/>
          <a:ln/>
        </p:spPr>
        <p:txBody>
          <a:bodyPr wrap="square" lIns="0" tIns="0" rIns="0" bIns="0" rtlCol="0" anchor="ctr"/>
          <a:lstStyle/>
          <a:p>
            <a:pPr indent="0" marL="0">
              <a:buNone/>
            </a:pPr>
            <a:r>
              <a:rPr lang="en-US" sz="1350" b="1" dirty="0">
                <a:solidFill>
                  <a:srgbClr val="E9814F"/>
                </a:solidFill>
                <a:latin typeface="Calibri" pitchFamily="34" charset="0"/>
                <a:ea typeface="Calibri" pitchFamily="34" charset="-122"/>
                <a:cs typeface="Calibri" pitchFamily="34" charset="-120"/>
              </a:rPr>
              <a:t>Isotropic</a:t>
            </a:r>
            <a:endParaRPr lang="en-US" sz="1350" dirty="0"/>
          </a:p>
        </p:txBody>
      </p:sp>
      <p:sp>
        <p:nvSpPr>
          <p:cNvPr id="8" name="Text 6"/>
          <p:cNvSpPr txBox="1"/>
          <p:nvPr/>
        </p:nvSpPr>
        <p:spPr>
          <a:xfrm>
            <a:off x="896112" y="4498848"/>
            <a:ext cx="2916936" cy="1280160"/>
          </a:xfrm>
          <a:prstGeom prst="rect">
            <a:avLst/>
          </a:prstGeom>
          <a:noFill/>
          <a:ln/>
        </p:spPr>
        <p:txBody>
          <a:bodyPr wrap="square" lIns="0" tIns="0" rIns="0" bIns="0" rtlCol="0" anchor="t"/>
          <a:lstStyle/>
          <a:p>
            <a:pPr indent="0" marL="0">
              <a:lnSpc>
                <a:spcPts val="1700"/>
              </a:lnSpc>
              <a:buNone/>
            </a:pPr>
            <a:r>
              <a:rPr lang="en-US" sz="1200" dirty="0">
                <a:solidFill>
                  <a:srgbClr val="9DACC0"/>
                </a:solidFill>
                <a:latin typeface="Calibri" pitchFamily="34" charset="0"/>
                <a:ea typeface="Calibri" pitchFamily="34" charset="-122"/>
                <a:cs typeface="Calibri" pitchFamily="34" charset="-120"/>
              </a:rPr>
              <a:t>One scalar on all three axes. The true resolution cell is short across the ray and long along it.</a:t>
            </a:r>
            <a:endParaRPr lang="en-US" sz="1200" dirty="0"/>
          </a:p>
        </p:txBody>
      </p:sp>
      <p:sp>
        <p:nvSpPr>
          <p:cNvPr id="9" name="Shape 7"/>
          <p:cNvSpPr/>
          <p:nvPr/>
        </p:nvSpPr>
        <p:spPr>
          <a:xfrm>
            <a:off x="4343400" y="3931920"/>
            <a:ext cx="3429000" cy="1920240"/>
          </a:xfrm>
          <a:prstGeom prst="roundRect">
            <a:avLst>
              <a:gd name="adj" fmla="val 2857"/>
            </a:avLst>
          </a:prstGeom>
          <a:solidFill>
            <a:srgbClr val="18202E"/>
          </a:solidFill>
          <a:ln w="9525">
            <a:solidFill>
              <a:srgbClr val="2A3546"/>
            </a:solidFill>
            <a:prstDash val="solid"/>
          </a:ln>
        </p:spPr>
      </p:sp>
      <p:sp>
        <p:nvSpPr>
          <p:cNvPr id="10" name="Text 8"/>
          <p:cNvSpPr txBox="1"/>
          <p:nvPr/>
        </p:nvSpPr>
        <p:spPr>
          <a:xfrm>
            <a:off x="4599432" y="4133088"/>
            <a:ext cx="2916936" cy="310896"/>
          </a:xfrm>
          <a:prstGeom prst="rect">
            <a:avLst/>
          </a:prstGeom>
          <a:noFill/>
          <a:ln/>
        </p:spPr>
        <p:txBody>
          <a:bodyPr wrap="square" lIns="0" tIns="0" rIns="0" bIns="0" rtlCol="0" anchor="ctr"/>
          <a:lstStyle/>
          <a:p>
            <a:pPr indent="0" marL="0">
              <a:buNone/>
            </a:pPr>
            <a:r>
              <a:rPr lang="en-US" sz="1350" b="1" dirty="0">
                <a:solidFill>
                  <a:srgbClr val="E9814F"/>
                </a:solidFill>
                <a:latin typeface="Calibri" pitchFamily="34" charset="0"/>
                <a:ea typeface="Calibri" pitchFamily="34" charset="-122"/>
                <a:cs typeface="Calibri" pitchFamily="34" charset="-120"/>
              </a:rPr>
              <a:t>One camera</a:t>
            </a:r>
            <a:endParaRPr lang="en-US" sz="1350" dirty="0"/>
          </a:p>
        </p:txBody>
      </p:sp>
      <p:sp>
        <p:nvSpPr>
          <p:cNvPr id="11" name="Text 9"/>
          <p:cNvSpPr txBox="1"/>
          <p:nvPr/>
        </p:nvSpPr>
        <p:spPr>
          <a:xfrm>
            <a:off x="4599432" y="4498848"/>
            <a:ext cx="2916936" cy="1280160"/>
          </a:xfrm>
          <a:prstGeom prst="rect">
            <a:avLst/>
          </a:prstGeom>
          <a:noFill/>
          <a:ln/>
        </p:spPr>
        <p:txBody>
          <a:bodyPr wrap="square" lIns="0" tIns="0" rIns="0" bIns="0" rtlCol="0" anchor="t"/>
          <a:lstStyle/>
          <a:p>
            <a:pPr indent="0" marL="0">
              <a:lnSpc>
                <a:spcPts val="1700"/>
              </a:lnSpc>
              <a:buNone/>
            </a:pPr>
            <a:r>
              <a:rPr lang="en-US" sz="1200" dirty="0">
                <a:solidFill>
                  <a:srgbClr val="9DACC0"/>
                </a:solidFill>
                <a:latin typeface="Calibri" pitchFamily="34" charset="0"/>
                <a:ea typeface="Calibri" pitchFamily="34" charset="-122"/>
                <a:cs typeface="Calibri" pitchFamily="34" charset="-120"/>
              </a:rPr>
              <a:t>min-depth and max-focal keep only the single best view. The configuration of the rest — which is what gives depth resolution — is thrown away.</a:t>
            </a:r>
            <a:endParaRPr lang="en-US" sz="1200" dirty="0"/>
          </a:p>
        </p:txBody>
      </p:sp>
      <p:sp>
        <p:nvSpPr>
          <p:cNvPr id="12" name="Shape 10"/>
          <p:cNvSpPr/>
          <p:nvPr/>
        </p:nvSpPr>
        <p:spPr>
          <a:xfrm>
            <a:off x="8046720" y="3931920"/>
            <a:ext cx="3429000" cy="1920240"/>
          </a:xfrm>
          <a:prstGeom prst="roundRect">
            <a:avLst>
              <a:gd name="adj" fmla="val 2857"/>
            </a:avLst>
          </a:prstGeom>
          <a:solidFill>
            <a:srgbClr val="18202E"/>
          </a:solidFill>
          <a:ln w="9525">
            <a:solidFill>
              <a:srgbClr val="2A3546"/>
            </a:solidFill>
            <a:prstDash val="solid"/>
          </a:ln>
        </p:spPr>
      </p:sp>
      <p:sp>
        <p:nvSpPr>
          <p:cNvPr id="13" name="Text 11"/>
          <p:cNvSpPr txBox="1"/>
          <p:nvPr/>
        </p:nvSpPr>
        <p:spPr>
          <a:xfrm>
            <a:off x="8302752" y="4133088"/>
            <a:ext cx="2916936" cy="310896"/>
          </a:xfrm>
          <a:prstGeom prst="rect">
            <a:avLst/>
          </a:prstGeom>
          <a:noFill/>
          <a:ln/>
        </p:spPr>
        <p:txBody>
          <a:bodyPr wrap="square" lIns="0" tIns="0" rIns="0" bIns="0" rtlCol="0" anchor="ctr"/>
          <a:lstStyle/>
          <a:p>
            <a:pPr indent="0" marL="0">
              <a:buNone/>
            </a:pPr>
            <a:r>
              <a:rPr lang="en-US" sz="1350" b="1" dirty="0">
                <a:solidFill>
                  <a:srgbClr val="E9814F"/>
                </a:solidFill>
                <a:latin typeface="Calibri" pitchFamily="34" charset="0"/>
                <a:ea typeface="Calibri" pitchFamily="34" charset="-122"/>
                <a:cs typeface="Calibri" pitchFamily="34" charset="-120"/>
              </a:rPr>
              <a:t>No angular counterpart</a:t>
            </a:r>
            <a:endParaRPr lang="en-US" sz="1350" dirty="0"/>
          </a:p>
        </p:txBody>
      </p:sp>
      <p:sp>
        <p:nvSpPr>
          <p:cNvPr id="14" name="Text 12"/>
          <p:cNvSpPr txBox="1"/>
          <p:nvPr/>
        </p:nvSpPr>
        <p:spPr>
          <a:xfrm>
            <a:off x="8302752" y="4498848"/>
            <a:ext cx="2916936" cy="1280160"/>
          </a:xfrm>
          <a:prstGeom prst="rect">
            <a:avLst/>
          </a:prstGeom>
          <a:noFill/>
          <a:ln/>
        </p:spPr>
        <p:txBody>
          <a:bodyPr wrap="square" lIns="0" tIns="0" rIns="0" bIns="0" rtlCol="0" anchor="t"/>
          <a:lstStyle/>
          <a:p>
            <a:pPr indent="0" marL="0">
              <a:lnSpc>
                <a:spcPts val="1700"/>
              </a:lnSpc>
              <a:buNone/>
            </a:pPr>
            <a:r>
              <a:rPr lang="en-US" sz="1200" dirty="0">
                <a:solidFill>
                  <a:srgbClr val="9DACC0"/>
                </a:solidFill>
                <a:latin typeface="Calibri" pitchFamily="34" charset="0"/>
                <a:ea typeface="Calibri" pitchFamily="34" charset="-122"/>
                <a:cs typeface="Calibri" pitchFamily="34" charset="-120"/>
              </a:rPr>
              <a:t>SH degree is global. A Gaussian seen from a 5° cone gets the same 45 coefficients as one seen from a full hemisphere.</a:t>
            </a:r>
            <a:endParaRPr lang="en-US" sz="1200" dirty="0"/>
          </a:p>
        </p:txBody>
      </p:sp>
      <p:sp>
        <p:nvSpPr>
          <p:cNvPr id="15" name="Text 13"/>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III · The gap</a:t>
            </a:r>
            <a:endParaRPr lang="en-US" sz="950" dirty="0"/>
          </a:p>
        </p:txBody>
      </p:sp>
      <p:sp>
        <p:nvSpPr>
          <p:cNvPr id="16" name="Text 1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2286000"/>
            <a:ext cx="10881360" cy="320040"/>
          </a:xfrm>
          <a:prstGeom prst="rect">
            <a:avLst/>
          </a:prstGeom>
          <a:noFill/>
          <a:ln/>
        </p:spPr>
        <p:txBody>
          <a:bodyPr wrap="square" lIns="0" tIns="0" rIns="0" bIns="0" rtlCol="0" anchor="ctr"/>
          <a:lstStyle/>
          <a:p>
            <a:pPr indent="0" marL="0">
              <a:buNone/>
            </a:pPr>
            <a:r>
              <a:rPr lang="en-US" sz="1200" b="1" spc="260" kern="0" dirty="0">
                <a:solidFill>
                  <a:srgbClr val="E9814F"/>
                </a:solidFill>
                <a:latin typeface="Calibri" pitchFamily="34" charset="0"/>
                <a:ea typeface="Calibri" pitchFamily="34" charset="-122"/>
                <a:cs typeface="Calibri" pitchFamily="34" charset="-120"/>
              </a:rPr>
              <a:t>PART IV</a:t>
            </a:r>
            <a:endParaRPr lang="en-US" sz="1200" dirty="0"/>
          </a:p>
        </p:txBody>
      </p:sp>
      <p:sp>
        <p:nvSpPr>
          <p:cNvPr id="3" name="Text 1"/>
          <p:cNvSpPr txBox="1"/>
          <p:nvPr/>
        </p:nvSpPr>
        <p:spPr>
          <a:xfrm>
            <a:off x="640080" y="2697480"/>
            <a:ext cx="10972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Proposal: band-limit by sampling geometry</a:t>
            </a:r>
            <a:endParaRPr lang="en-US" sz="4000" dirty="0"/>
          </a:p>
        </p:txBody>
      </p:sp>
      <p:sp>
        <p:nvSpPr>
          <p:cNvPr id="4" name="Text 2"/>
          <p:cNvSpPr txBox="1"/>
          <p:nvPr/>
        </p:nvSpPr>
        <p:spPr>
          <a:xfrm>
            <a:off x="640080" y="3703320"/>
            <a:ext cx="8778240" cy="457200"/>
          </a:xfrm>
          <a:prstGeom prst="rect">
            <a:avLst/>
          </a:prstGeom>
          <a:noFill/>
          <a:ln/>
        </p:spPr>
        <p:txBody>
          <a:bodyPr wrap="square" lIns="0" tIns="0" rIns="0" bIns="0" rtlCol="0" anchor="ctr"/>
          <a:lstStyle/>
          <a:p>
            <a:pPr indent="0" marL="0">
              <a:buNone/>
            </a:pPr>
            <a:r>
              <a:rPr lang="en-US" sz="1800" i="1" dirty="0">
                <a:solidFill>
                  <a:srgbClr val="9DACC0"/>
                </a:solidFill>
                <a:latin typeface="Cambria" pitchFamily="34" charset="0"/>
                <a:ea typeface="Cambria" pitchFamily="34" charset="-122"/>
                <a:cs typeface="Cambria" pitchFamily="34" charset="-120"/>
              </a:rPr>
              <a:t>Compute the filter the cameras imply, instead of scheduling one.</a:t>
            </a:r>
            <a:endParaRPr lang="en-US" sz="1800" dirty="0"/>
          </a:p>
        </p:txBody>
      </p:sp>
      <p:sp>
        <p:nvSpPr>
          <p:cNvPr id="5"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endParaRPr lang="en-US" sz="950" dirty="0"/>
          </a:p>
        </p:txBody>
      </p:sp>
      <p:sp>
        <p:nvSpPr>
          <p:cNvPr id="6"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THE UNIFYING CLAIM</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Same field, same samples, three different answers</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103120"/>
                <a:gridCol w="2926080"/>
                <a:gridCol w="3931920"/>
                <a:gridCol w="192024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Where the band-limit lives</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How it is set</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Granularity</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r>
              <a:tr h="457200">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NeRF (2020)</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The positional-encoding band L</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By hand, once, from “the maximum frequency present in the sampled input images”</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One scalar for the whole model</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3DGS (2023)</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Nowhere</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Not set — the authors state no regularisation is applied at all</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Absent</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Mip-Splatting (2024)</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A variance added to the covariance</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ν̂_k = max over views of f_n / d_n</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One scalar per primitive</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This project</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A covariance added to the primitive, floored at the above</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Accumulated sampling Fisher information of all views that see it</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F"/>
                          </a:solidFill>
                          <a:latin typeface="Calibri" pitchFamily="34" charset="0"/>
                          <a:ea typeface="Calibri" pitchFamily="34" charset="-122"/>
                          <a:cs typeface="Calibri" pitchFamily="34" charset="-120"/>
                        </a:rPr>
                        <a:t>Per primitive, PER DIRECTION</a:t>
                      </a:r>
                      <a:endParaRPr lang="en-US" sz="11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279392"/>
            <a:ext cx="10881360" cy="411480"/>
          </a:xfrm>
          <a:prstGeom prst="rect">
            <a:avLst/>
          </a:prstGeom>
          <a:noFill/>
          <a:ln/>
        </p:spPr>
        <p:txBody>
          <a:bodyPr wrap="square" lIns="0" tIns="0" rIns="0" bIns="0" rtlCol="0" anchor="ctr"/>
          <a:lstStyle/>
          <a:p>
            <a:pPr indent="0" marL="0">
              <a:buNone/>
            </a:pPr>
            <a:r>
              <a:rPr lang="en-US" sz="2000" b="1" dirty="0">
                <a:solidFill>
                  <a:srgbClr val="C2582B"/>
                </a:solidFill>
                <a:latin typeface="Cambria" pitchFamily="34" charset="0"/>
                <a:ea typeface="Cambria" pitchFamily="34" charset="-122"/>
                <a:cs typeface="Cambria" pitchFamily="34" charset="-120"/>
              </a:rPr>
              <a:t>“The maximum frequency present in the sampled input images” is not one number.</a:t>
            </a:r>
            <a:endParaRPr lang="en-US" sz="2000" dirty="0"/>
          </a:p>
        </p:txBody>
      </p:sp>
      <p:sp>
        <p:nvSpPr>
          <p:cNvPr id="6" name="Text 3"/>
          <p:cNvSpPr txBox="1"/>
          <p:nvPr/>
        </p:nvSpPr>
        <p:spPr>
          <a:xfrm>
            <a:off x="640080" y="4828032"/>
            <a:ext cx="10881360" cy="128016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It falls with depth, it differs across the ray from along it, and it varies over the sphere of viewing directions.</a:t>
            </a:r>
            <a:endParaRPr lang="en-US" sz="1250" dirty="0"/>
          </a:p>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NeRF collapses it to a global constant and gets away with it, because one tuned L beats none. 3DGS discards it and pays in floaters, popping and elongated Gaussians.</a:t>
            </a:r>
            <a:endParaRPr lang="en-US" sz="1250" dirty="0"/>
          </a:p>
          <a:p>
            <a:pPr marL="203200" indent="-203200">
              <a:lnSpc>
                <a:spcPts val="2200"/>
              </a:lnSpc>
              <a:spcAft>
                <a:spcPts val="900"/>
              </a:spcAft>
              <a:buSzPct val="100000"/>
              <a:buChar char="•"/>
            </a:pPr>
            <a:r>
              <a:rPr lang="en-US" sz="1250" dirty="0">
                <a:solidFill>
                  <a:srgbClr val="16202F"/>
                </a:solidFill>
                <a:latin typeface="Calibri" pitchFamily="34" charset="0"/>
                <a:ea typeface="Calibri" pitchFamily="34" charset="-122"/>
                <a:cs typeface="Calibri" pitchFamily="34" charset="-120"/>
              </a:rPr>
              <a:t>The accumulated sampling Fisher information is the local, directional generalisation of the quantity NeRF's authors named in 2020.</a:t>
            </a:r>
            <a:endParaRPr lang="en-US" sz="1250" dirty="0"/>
          </a:p>
        </p:txBody>
      </p:sp>
      <p:sp>
        <p:nvSpPr>
          <p:cNvPr id="7" name="Text 4"/>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8" name="Text 5"/>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CORE INSIGHT</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The band-limit is anisotropic</a:t>
            </a:r>
            <a:endParaRPr lang="en-US" sz="3200" dirty="0"/>
          </a:p>
        </p:txBody>
      </p:sp>
      <p:sp>
        <p:nvSpPr>
          <p:cNvPr id="4" name="Text 2"/>
          <p:cNvSpPr txBox="1"/>
          <p:nvPr/>
        </p:nvSpPr>
        <p:spPr>
          <a:xfrm>
            <a:off x="640080" y="1783080"/>
            <a:ext cx="2743200" cy="36576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Lateral</a:t>
            </a:r>
            <a:endParaRPr lang="en-US" sz="1900" dirty="0"/>
          </a:p>
        </p:txBody>
      </p:sp>
      <p:sp>
        <p:nvSpPr>
          <p:cNvPr id="5" name="Text 3"/>
          <p:cNvSpPr txBox="1"/>
          <p:nvPr/>
        </p:nvSpPr>
        <p:spPr>
          <a:xfrm>
            <a:off x="3657600" y="1764792"/>
            <a:ext cx="5669280" cy="82296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Set by the closest, sharpest camera. Roughly z / f per pixel.</a:t>
            </a:r>
            <a:endParaRPr lang="en-US" sz="1350" dirty="0"/>
          </a:p>
        </p:txBody>
      </p:sp>
      <p:sp>
        <p:nvSpPr>
          <p:cNvPr id="6" name="Text 4"/>
          <p:cNvSpPr txBox="1"/>
          <p:nvPr/>
        </p:nvSpPr>
        <p:spPr>
          <a:xfrm>
            <a:off x="9509760" y="1801368"/>
            <a:ext cx="2011680" cy="320040"/>
          </a:xfrm>
          <a:prstGeom prst="rect">
            <a:avLst/>
          </a:prstGeom>
          <a:noFill/>
          <a:ln/>
        </p:spPr>
        <p:txBody>
          <a:bodyPr wrap="square" lIns="0" tIns="0" rIns="0" bIns="0" rtlCol="0" anchor="ctr"/>
          <a:lstStyle/>
          <a:p>
            <a:pPr algn="r" indent="0" marL="0">
              <a:buNone/>
            </a:pPr>
            <a:r>
              <a:rPr lang="en-US" sz="1150" b="1" spc="120" kern="0" dirty="0">
                <a:solidFill>
                  <a:srgbClr val="C2582B"/>
                </a:solidFill>
                <a:latin typeface="Calibri" pitchFamily="34" charset="0"/>
                <a:ea typeface="Calibri" pitchFamily="34" charset="-122"/>
                <a:cs typeface="Calibri" pitchFamily="34" charset="-120"/>
              </a:rPr>
              <a:t>well resolved</a:t>
            </a:r>
            <a:endParaRPr lang="en-US" sz="1150" dirty="0"/>
          </a:p>
        </p:txBody>
      </p:sp>
      <p:sp>
        <p:nvSpPr>
          <p:cNvPr id="7" name="Shape 5"/>
          <p:cNvSpPr/>
          <p:nvPr/>
        </p:nvSpPr>
        <p:spPr>
          <a:xfrm>
            <a:off x="640080" y="2679192"/>
            <a:ext cx="10881360" cy="0"/>
          </a:xfrm>
          <a:prstGeom prst="line">
            <a:avLst/>
          </a:prstGeom>
          <a:noFill/>
          <a:ln w="9525">
            <a:solidFill>
              <a:srgbClr val="D5DCE5"/>
            </a:solidFill>
            <a:prstDash val="solid"/>
          </a:ln>
        </p:spPr>
      </p:sp>
      <p:sp>
        <p:nvSpPr>
          <p:cNvPr id="8" name="Text 6"/>
          <p:cNvSpPr txBox="1"/>
          <p:nvPr/>
        </p:nvSpPr>
        <p:spPr>
          <a:xfrm>
            <a:off x="640080" y="2880360"/>
            <a:ext cx="2743200" cy="36576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Axial (along ray)</a:t>
            </a:r>
            <a:endParaRPr lang="en-US" sz="1900" dirty="0"/>
          </a:p>
        </p:txBody>
      </p:sp>
      <p:sp>
        <p:nvSpPr>
          <p:cNvPr id="9" name="Text 7"/>
          <p:cNvSpPr txBox="1"/>
          <p:nvPr/>
        </p:nvSpPr>
        <p:spPr>
          <a:xfrm>
            <a:off x="3657600" y="2862072"/>
            <a:ext cx="5669280" cy="82296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A single view carries no depth information at all. Resolution comes only from parallax between views.</a:t>
            </a:r>
            <a:endParaRPr lang="en-US" sz="1350" dirty="0"/>
          </a:p>
        </p:txBody>
      </p:sp>
      <p:sp>
        <p:nvSpPr>
          <p:cNvPr id="10" name="Text 8"/>
          <p:cNvSpPr txBox="1"/>
          <p:nvPr/>
        </p:nvSpPr>
        <p:spPr>
          <a:xfrm>
            <a:off x="9509760" y="2898648"/>
            <a:ext cx="2011680" cy="320040"/>
          </a:xfrm>
          <a:prstGeom prst="rect">
            <a:avLst/>
          </a:prstGeom>
          <a:noFill/>
          <a:ln/>
        </p:spPr>
        <p:txBody>
          <a:bodyPr wrap="square" lIns="0" tIns="0" rIns="0" bIns="0" rtlCol="0" anchor="ctr"/>
          <a:lstStyle/>
          <a:p>
            <a:pPr algn="r" indent="0" marL="0">
              <a:buNone/>
            </a:pPr>
            <a:r>
              <a:rPr lang="en-US" sz="1150" b="1" spc="120" kern="0" dirty="0">
                <a:solidFill>
                  <a:srgbClr val="C2582B"/>
                </a:solidFill>
                <a:latin typeface="Calibri" pitchFamily="34" charset="0"/>
                <a:ea typeface="Calibri" pitchFamily="34" charset="-122"/>
                <a:cs typeface="Calibri" pitchFamily="34" charset="-120"/>
              </a:rPr>
              <a:t>often poorly resolved</a:t>
            </a:r>
            <a:endParaRPr lang="en-US" sz="1150" dirty="0"/>
          </a:p>
        </p:txBody>
      </p:sp>
      <p:sp>
        <p:nvSpPr>
          <p:cNvPr id="11" name="Shape 9"/>
          <p:cNvSpPr/>
          <p:nvPr/>
        </p:nvSpPr>
        <p:spPr>
          <a:xfrm>
            <a:off x="640080" y="3776472"/>
            <a:ext cx="10881360" cy="0"/>
          </a:xfrm>
          <a:prstGeom prst="line">
            <a:avLst/>
          </a:prstGeom>
          <a:noFill/>
          <a:ln w="9525">
            <a:solidFill>
              <a:srgbClr val="D5DCE5"/>
            </a:solidFill>
            <a:prstDash val="solid"/>
          </a:ln>
        </p:spPr>
      </p:sp>
      <p:sp>
        <p:nvSpPr>
          <p:cNvPr id="12" name="Text 10"/>
          <p:cNvSpPr txBox="1"/>
          <p:nvPr/>
        </p:nvSpPr>
        <p:spPr>
          <a:xfrm>
            <a:off x="640080" y="3977640"/>
            <a:ext cx="2743200" cy="365760"/>
          </a:xfrm>
          <a:prstGeom prst="rect">
            <a:avLst/>
          </a:prstGeom>
          <a:noFill/>
          <a:ln/>
        </p:spPr>
        <p:txBody>
          <a:bodyPr wrap="square" lIns="0" tIns="0" rIns="0" bIns="0" rtlCol="0" anchor="ctr"/>
          <a:lstStyle/>
          <a:p>
            <a:pPr indent="0" marL="0">
              <a:buNone/>
            </a:pPr>
            <a:r>
              <a:rPr lang="en-US" sz="1900" b="1" dirty="0">
                <a:solidFill>
                  <a:srgbClr val="16202F"/>
                </a:solidFill>
                <a:latin typeface="Cambria" pitchFamily="34" charset="0"/>
                <a:ea typeface="Cambria" pitchFamily="34" charset="-122"/>
                <a:cs typeface="Cambria" pitchFamily="34" charset="-120"/>
              </a:rPr>
              <a:t>Angular</a:t>
            </a:r>
            <a:endParaRPr lang="en-US" sz="1900" dirty="0"/>
          </a:p>
        </p:txBody>
      </p:sp>
      <p:sp>
        <p:nvSpPr>
          <p:cNvPr id="13" name="Text 11"/>
          <p:cNvSpPr txBox="1"/>
          <p:nvPr/>
        </p:nvSpPr>
        <p:spPr>
          <a:xfrm>
            <a:off x="3657600" y="3959352"/>
            <a:ext cx="5669280" cy="822960"/>
          </a:xfrm>
          <a:prstGeom prst="rect">
            <a:avLst/>
          </a:prstGeom>
          <a:noFill/>
          <a:ln/>
        </p:spPr>
        <p:txBody>
          <a:bodyPr wrap="square" lIns="0" tIns="0" rIns="0" bIns="0" rtlCol="0" anchor="ctr"/>
          <a:lstStyle/>
          <a:p>
            <a:pPr indent="0" marL="0">
              <a:lnSpc>
                <a:spcPts val="1900"/>
              </a:lnSpc>
              <a:buNone/>
            </a:pPr>
            <a:r>
              <a:rPr lang="en-US" sz="1350" dirty="0">
                <a:solidFill>
                  <a:srgbClr val="5B6B80"/>
                </a:solidFill>
                <a:latin typeface="Calibri" pitchFamily="34" charset="0"/>
                <a:ea typeface="Calibri" pitchFamily="34" charset="-122"/>
                <a:cs typeface="Calibri" pitchFamily="34" charset="-120"/>
              </a:rPr>
              <a:t>Set by the spread of viewing directions. Determines how many SH bands are identifiable.</a:t>
            </a:r>
            <a:endParaRPr lang="en-US" sz="1350" dirty="0"/>
          </a:p>
        </p:txBody>
      </p:sp>
      <p:sp>
        <p:nvSpPr>
          <p:cNvPr id="14" name="Text 12"/>
          <p:cNvSpPr txBox="1"/>
          <p:nvPr/>
        </p:nvSpPr>
        <p:spPr>
          <a:xfrm>
            <a:off x="9509760" y="3995928"/>
            <a:ext cx="2011680" cy="320040"/>
          </a:xfrm>
          <a:prstGeom prst="rect">
            <a:avLst/>
          </a:prstGeom>
          <a:noFill/>
          <a:ln/>
        </p:spPr>
        <p:txBody>
          <a:bodyPr wrap="square" lIns="0" tIns="0" rIns="0" bIns="0" rtlCol="0" anchor="ctr"/>
          <a:lstStyle/>
          <a:p>
            <a:pPr algn="r" indent="0" marL="0">
              <a:buNone/>
            </a:pPr>
            <a:r>
              <a:rPr lang="en-US" sz="1150" b="1" spc="120" kern="0" dirty="0">
                <a:solidFill>
                  <a:srgbClr val="C2582B"/>
                </a:solidFill>
                <a:latin typeface="Calibri" pitchFamily="34" charset="0"/>
                <a:ea typeface="Calibri" pitchFamily="34" charset="-122"/>
                <a:cs typeface="Calibri" pitchFamily="34" charset="-120"/>
              </a:rPr>
              <a:t>wildly uneven</a:t>
            </a:r>
            <a:endParaRPr lang="en-US" sz="1150" dirty="0"/>
          </a:p>
        </p:txBody>
      </p:sp>
      <p:sp>
        <p:nvSpPr>
          <p:cNvPr id="15" name="Shape 13"/>
          <p:cNvSpPr/>
          <p:nvPr/>
        </p:nvSpPr>
        <p:spPr>
          <a:xfrm>
            <a:off x="640080" y="4873752"/>
            <a:ext cx="10881360" cy="0"/>
          </a:xfrm>
          <a:prstGeom prst="line">
            <a:avLst/>
          </a:prstGeom>
          <a:noFill/>
          <a:ln w="9525">
            <a:solidFill>
              <a:srgbClr val="D5DCE5"/>
            </a:solidFill>
            <a:prstDash val="solid"/>
          </a:ln>
        </p:spPr>
      </p:sp>
      <p:sp>
        <p:nvSpPr>
          <p:cNvPr id="16" name="Text 14"/>
          <p:cNvSpPr txBox="1"/>
          <p:nvPr/>
        </p:nvSpPr>
        <p:spPr>
          <a:xfrm>
            <a:off x="640080" y="5029200"/>
            <a:ext cx="10881360" cy="502920"/>
          </a:xfrm>
          <a:prstGeom prst="rect">
            <a:avLst/>
          </a:prstGeom>
          <a:noFill/>
          <a:ln/>
        </p:spPr>
        <p:txBody>
          <a:bodyPr wrap="square" lIns="0" tIns="0" rIns="0" bIns="0" rtlCol="0" anchor="ctr"/>
          <a:lstStyle/>
          <a:p>
            <a:pPr indent="0" marL="0">
              <a:lnSpc>
                <a:spcPts val="2600"/>
              </a:lnSpc>
              <a:buNone/>
            </a:pPr>
            <a:r>
              <a:rPr lang="en-US" sz="1650" i="1" dirty="0">
                <a:solidFill>
                  <a:srgbClr val="0D5F68"/>
                </a:solidFill>
                <a:latin typeface="Cambria" pitchFamily="34" charset="0"/>
                <a:ea typeface="Cambria" pitchFamily="34" charset="-122"/>
                <a:cs typeface="Cambria" pitchFamily="34" charset="-120"/>
              </a:rPr>
              <a:t>A scalar cannot express three different limits. Mip-Splatting borrows the lateral number and applies it axially, where it has no basis.</a:t>
            </a:r>
            <a:endParaRPr lang="en-US" sz="1650" dirty="0"/>
          </a:p>
        </p:txBody>
      </p:sp>
      <p:sp>
        <p:nvSpPr>
          <p:cNvPr id="17" name="Text 15"/>
          <p:cNvSpPr txBox="1"/>
          <p:nvPr/>
        </p:nvSpPr>
        <p:spPr>
          <a:xfrm>
            <a:off x="640080" y="5779008"/>
            <a:ext cx="10881360" cy="502920"/>
          </a:xfrm>
          <a:prstGeom prst="rect">
            <a:avLst/>
          </a:prstGeom>
          <a:noFill/>
          <a:ln/>
        </p:spPr>
        <p:txBody>
          <a:bodyPr wrap="square" lIns="0" tIns="0" rIns="0" bIns="0" rtlCol="0" anchor="ctr"/>
          <a:lstStyle/>
          <a:p>
            <a:pPr indent="0" marL="0">
              <a:lnSpc>
                <a:spcPts val="1600"/>
              </a:lnSpc>
              <a:buNone/>
            </a:pPr>
            <a:r>
              <a:rPr lang="en-US" sz="1200" dirty="0">
                <a:solidFill>
                  <a:srgbClr val="5B6B80"/>
                </a:solidFill>
                <a:latin typeface="Calibri" pitchFamily="34" charset="0"/>
                <a:ea typeface="Calibri" pitchFamily="34" charset="-122"/>
                <a:cs typeface="Calibri" pitchFamily="34" charset="-120"/>
              </a:rPr>
              <a:t>NeRF's own ablation already shows this empirically: encoding frequencies above what the input images support stops helping and starts hurting — L = 15 scores below L = 10.</a:t>
            </a:r>
            <a:endParaRPr lang="en-US" sz="1200" dirty="0"/>
          </a:p>
        </p:txBody>
      </p:sp>
      <p:sp>
        <p:nvSpPr>
          <p:cNvPr id="18" name="Text 16"/>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19" name="Text 17"/>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B1 — the sampling Fisher information</a:t>
            </a:r>
            <a:endParaRPr lang="en-US" sz="3200" dirty="0"/>
          </a:p>
        </p:txBody>
      </p:sp>
      <p:sp>
        <p:nvSpPr>
          <p:cNvPr id="4" name="Shape 2"/>
          <p:cNvSpPr/>
          <p:nvPr/>
        </p:nvSpPr>
        <p:spPr>
          <a:xfrm>
            <a:off x="640080" y="1600200"/>
            <a:ext cx="10881360" cy="1965960"/>
          </a:xfrm>
          <a:prstGeom prst="rect">
            <a:avLst/>
          </a:prstGeom>
          <a:solidFill>
            <a:srgbClr val="18202E"/>
          </a:solidFill>
          <a:ln w="9525">
            <a:solidFill>
              <a:srgbClr val="2A3546"/>
            </a:solidFill>
            <a:prstDash val="solid"/>
          </a:ln>
        </p:spPr>
      </p:sp>
      <p:sp>
        <p:nvSpPr>
          <p:cNvPr id="5" name="Text 3"/>
          <p:cNvSpPr txBox="1"/>
          <p:nvPr/>
        </p:nvSpPr>
        <p:spPr>
          <a:xfrm>
            <a:off x="914400" y="1801368"/>
            <a:ext cx="10332720" cy="1563624"/>
          </a:xfrm>
          <a:prstGeom prst="rect">
            <a:avLst/>
          </a:prstGeom>
          <a:noFill/>
          <a:ln/>
        </p:spPr>
        <p:txBody>
          <a:bodyPr wrap="square" lIns="0" tIns="0" rIns="0" bIns="0" rtlCol="0" anchor="t"/>
          <a:lstStyle/>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Λ_k = Σ_n w_nk · (J_n W_n)ᵀ Σ_pix⁻¹ (J_n W_n) = V diag(λ₁,λ₂,λ₃) Vᵀ    rank 2 per view</a:t>
            </a:r>
            <a:endParaRPr lang="en-US" sz="1300" dirty="0"/>
          </a:p>
          <a:p>
            <a:pPr indent="0" marL="0">
              <a:lnSpc>
                <a:spcPts val="2100"/>
              </a:lnSpc>
              <a:buNone/>
            </a:pP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σ_i² = min( max( f_k² , s²/λ_i ) , (β z_min,k)² )      f_k² = Mip-Splatting's own floor</a:t>
            </a: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Σ_filt = V diag(σ₁²,σ₂²,σ₃²) Vᵀ  ;  Σ_k ← Σ_k + Σ_filt</a:t>
            </a:r>
            <a:endParaRPr lang="en-US" sz="1300" dirty="0"/>
          </a:p>
          <a:p>
            <a:pPr indent="0" marL="0">
              <a:lnSpc>
                <a:spcPts val="2100"/>
              </a:lnSpc>
              <a:buNone/>
            </a:pPr>
            <a:r>
              <a:rPr lang="en-US" sz="1300" dirty="0">
                <a:solidFill>
                  <a:srgbClr val="E8EDF4"/>
                </a:solidFill>
                <a:latin typeface="Courier New" pitchFamily="34" charset="0"/>
                <a:ea typeface="Courier New" pitchFamily="34" charset="-122"/>
                <a:cs typeface="Courier New" pitchFamily="34" charset="-120"/>
              </a:rPr>
              <a:t>α_k ← α_k · sqrt( |Σ_k| / |Σ_k + Σ_filt| )             determinant form of the same rule</a:t>
            </a:r>
            <a:endParaRPr lang="en-US" sz="1300" dirty="0"/>
          </a:p>
        </p:txBody>
      </p:sp>
      <p:sp>
        <p:nvSpPr>
          <p:cNvPr id="6" name="Text 4"/>
          <p:cNvSpPr txBox="1"/>
          <p:nvPr/>
        </p:nvSpPr>
        <p:spPr>
          <a:xfrm>
            <a:off x="640080" y="3794760"/>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350" dirty="0">
                <a:solidFill>
                  <a:srgbClr val="E8EDF4"/>
                </a:solidFill>
                <a:latin typeface="Calibri" pitchFamily="34" charset="0"/>
                <a:ea typeface="Calibri" pitchFamily="34" charset="-122"/>
                <a:cs typeface="Calibri" pitchFamily="34" charset="-120"/>
              </a:rPr>
              <a:t>J_n W_n is the product 3DGS already forms for the EWA transform. Two hyperparameters: s (confidence, default 1) and β (cap as a fraction of distance to the nearest camera).</a:t>
            </a:r>
            <a:endParaRPr lang="en-US" sz="1350" dirty="0"/>
          </a:p>
          <a:p>
            <a:pPr marL="203200" indent="-203200">
              <a:lnSpc>
                <a:spcPts val="2200"/>
              </a:lnSpc>
              <a:spcAft>
                <a:spcPts val="900"/>
              </a:spcAft>
              <a:buSzPct val="100000"/>
              <a:buChar char="•"/>
            </a:pPr>
            <a:r>
              <a:rPr lang="en-US" sz="1350" dirty="0">
                <a:solidFill>
                  <a:srgbClr val="E8EDF4"/>
                </a:solidFill>
                <a:latin typeface="Calibri" pitchFamily="34" charset="0"/>
                <a:ea typeface="Calibri" pitchFamily="34" charset="-122"/>
                <a:cs typeface="Calibri" pitchFamily="34" charset="-120"/>
              </a:rPr>
              <a:t>When s²/λ_i ≤ f_k² in every direction, this collapses to Σ_filt = f_k² I — Mip-Splatting, exactly. That is a unit test, not a claim.</a:t>
            </a:r>
            <a:endParaRPr lang="en-US" sz="1350" dirty="0"/>
          </a:p>
          <a:p>
            <a:pPr marL="203200" indent="-203200">
              <a:lnSpc>
                <a:spcPts val="2200"/>
              </a:lnSpc>
              <a:spcAft>
                <a:spcPts val="900"/>
              </a:spcAft>
              <a:buSzPct val="100000"/>
              <a:buChar char="•"/>
            </a:pPr>
            <a:r>
              <a:rPr lang="en-US" sz="1350" dirty="0">
                <a:solidFill>
                  <a:srgbClr val="E8EDF4"/>
                </a:solidFill>
                <a:latin typeface="Calibri" pitchFamily="34" charset="0"/>
                <a:ea typeface="Calibri" pitchFamily="34" charset="-122"/>
                <a:cs typeface="Calibri" pitchFamily="34" charset="-120"/>
              </a:rPr>
              <a:t>So the filter never smooths LESS than the baseline in any direction: lateral detail is safe by construction, and extra smoothing appears only along directions the data leave unconstrained.</a:t>
            </a:r>
            <a:endParaRPr lang="en-US" sz="1350" dirty="0"/>
          </a:p>
          <a:p>
            <a:pPr marL="203200" indent="-203200">
              <a:lnSpc>
                <a:spcPts val="2200"/>
              </a:lnSpc>
              <a:spcAft>
                <a:spcPts val="900"/>
              </a:spcAft>
              <a:buSzPct val="100000"/>
              <a:buChar char="•"/>
            </a:pPr>
            <a:r>
              <a:rPr lang="en-US" sz="1350" dirty="0">
                <a:solidFill>
                  <a:srgbClr val="E8EDF4"/>
                </a:solidFill>
                <a:latin typeface="Calibri" pitchFamily="34" charset="0"/>
                <a:ea typeface="Calibri" pitchFamily="34" charset="-122"/>
                <a:cs typeface="Calibri" pitchFamily="34" charset="-120"/>
              </a:rPr>
              <a:t>Λ depends only on poses. Same cadence as the baseline — about 290 recomputations per 30 K run, never at render time.</a:t>
            </a:r>
            <a:endParaRPr lang="en-US" sz="1350" dirty="0"/>
          </a:p>
        </p:txBody>
      </p:sp>
      <p:sp>
        <p:nvSpPr>
          <p:cNvPr id="7" name="Text 5"/>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IV · Proposal</a:t>
            </a:r>
            <a:endParaRPr lang="en-US" sz="950" dirty="0"/>
          </a:p>
        </p:txBody>
      </p:sp>
      <p:sp>
        <p:nvSpPr>
          <p:cNvPr id="8" name="Text 6"/>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B2 — angular identifiability of spherical harmonics</a:t>
            </a:r>
            <a:endParaRPr lang="en-US" sz="3200" dirty="0"/>
          </a:p>
        </p:txBody>
      </p:sp>
      <p:sp>
        <p:nvSpPr>
          <p:cNvPr id="4" name="Text 2"/>
          <p:cNvSpPr txBox="1"/>
          <p:nvPr/>
        </p:nvSpPr>
        <p:spPr>
          <a:xfrm>
            <a:off x="640080" y="1737360"/>
            <a:ext cx="10881360" cy="137160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76 % of a 3DGS model is non-DC spherical-harmonic coefficients, applied at degree 3 everywhere regardless of how the Gaussian was observed.</a:t>
            </a:r>
            <a:endParaRPr lang="en-US" sz="1450" dirty="0"/>
          </a:p>
          <a:p>
            <a:pPr marL="203200" indent="-203200">
              <a:lnSpc>
                <a:spcPts val="2200"/>
              </a:lnSpc>
              <a:spcAft>
                <a:spcPts val="900"/>
              </a:spcAft>
              <a:buSzPct val="100000"/>
              <a:buChar char="•"/>
            </a:pPr>
            <a:r>
              <a:rPr lang="en-US" sz="1450" dirty="0">
                <a:solidFill>
                  <a:srgbClr val="16202F"/>
                </a:solidFill>
                <a:latin typeface="Calibri" pitchFamily="34" charset="0"/>
                <a:ea typeface="Calibri" pitchFamily="34" charset="-122"/>
                <a:cs typeface="Calibri" pitchFamily="34" charset="-120"/>
              </a:rPr>
              <a:t>The paper's own §7.1 admits SH is "sensitive to the lack of angular information", and patches it with a global schedule: one band every 1000 iterations, for every Gaussian alike.</a:t>
            </a:r>
            <a:endParaRPr lang="en-US" sz="1450" dirty="0"/>
          </a:p>
        </p:txBody>
      </p:sp>
      <p:sp>
        <p:nvSpPr>
          <p:cNvPr id="5" name="Shape 3"/>
          <p:cNvSpPr/>
          <p:nvPr/>
        </p:nvSpPr>
        <p:spPr>
          <a:xfrm>
            <a:off x="640080" y="3246120"/>
            <a:ext cx="10881360" cy="1051560"/>
          </a:xfrm>
          <a:prstGeom prst="rect">
            <a:avLst/>
          </a:prstGeom>
          <a:solidFill>
            <a:srgbClr val="F1F4F8"/>
          </a:solidFill>
          <a:ln w="9525">
            <a:solidFill>
              <a:srgbClr val="D5DCE5"/>
            </a:solidFill>
            <a:prstDash val="solid"/>
          </a:ln>
        </p:spPr>
      </p:sp>
      <p:sp>
        <p:nvSpPr>
          <p:cNvPr id="6" name="Text 4"/>
          <p:cNvSpPr txBox="1"/>
          <p:nvPr/>
        </p:nvSpPr>
        <p:spPr>
          <a:xfrm>
            <a:off x="914400" y="3447288"/>
            <a:ext cx="10332720" cy="649224"/>
          </a:xfrm>
          <a:prstGeom prst="rect">
            <a:avLst/>
          </a:prstGeom>
          <a:noFill/>
          <a:ln/>
        </p:spPr>
        <p:txBody>
          <a:bodyPr wrap="square" lIns="0" tIns="0" rIns="0" bIns="0" rtlCol="0" anchor="t"/>
          <a:lstStyle/>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A_k = Σ_n w_nk · y(d_nk) y(d_nk)ᵀ            angular Gram matrix, (L+1)² × (L+1)²</a:t>
            </a:r>
            <a:endParaRPr lang="en-US" sz="1300" dirty="0"/>
          </a:p>
          <a:p>
            <a:pPr indent="0" marL="0">
              <a:lnSpc>
                <a:spcPts val="2100"/>
              </a:lnSpc>
              <a:buNone/>
            </a:pPr>
            <a:r>
              <a:rPr lang="en-US" sz="1300" dirty="0">
                <a:solidFill>
                  <a:srgbClr val="16202F"/>
                </a:solidFill>
                <a:latin typeface="Courier New" pitchFamily="34" charset="0"/>
                <a:ea typeface="Courier New" pitchFamily="34" charset="-122"/>
                <a:cs typeface="Courier New" pitchFamily="34" charset="-120"/>
              </a:rPr>
              <a:t>ℓ_max(k) = max { ℓ : λ_min( A_k[ℓ] ) &gt; τ }   mask everything above; never optimise it</a:t>
            </a:r>
            <a:endParaRPr lang="en-US" sz="1300" dirty="0"/>
          </a:p>
        </p:txBody>
      </p:sp>
      <p:sp>
        <p:nvSpPr>
          <p:cNvPr id="7" name="Text 5"/>
          <p:cNvSpPr txBox="1"/>
          <p:nvPr/>
        </p:nvSpPr>
        <p:spPr>
          <a:xfrm>
            <a:off x="640080" y="4407408"/>
            <a:ext cx="10881360" cy="4206240"/>
          </a:xfrm>
          <a:prstGeom prst="rect">
            <a:avLst/>
          </a:prstGeom>
          <a:noFill/>
          <a:ln/>
        </p:spPr>
        <p:txBody>
          <a:bodyPr wrap="square" lIns="0" tIns="0" rIns="0" bIns="0" rtlCol="0" anchor="t"/>
          <a:lstStyle/>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This is textbook parameter identifiability — does the design matrix have the rank to estimate this basis coefficient?</a:t>
            </a:r>
            <a:endParaRPr lang="en-US" sz="1350" dirty="0"/>
          </a:p>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Magnitude pruning removes coefficients that came out small. This prevents fitting coefficients the data cannot determine at all.</a:t>
            </a:r>
            <a:endParaRPr lang="en-US" sz="1350" dirty="0"/>
          </a:p>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Masking alone does not shrink a fixed-stride array — storage must become variable-length: a 2-bit degree tag plus a variable payload, which every 3DGS compression pipeline already does.</a:t>
            </a:r>
            <a:endParaRPr lang="en-US" sz="1350" dirty="0"/>
          </a:p>
          <a:p>
            <a:pPr marL="203200" indent="-203200">
              <a:lnSpc>
                <a:spcPts val="2200"/>
              </a:lnSpc>
              <a:spcAft>
                <a:spcPts val="900"/>
              </a:spcAft>
              <a:buSzPct val="100000"/>
              <a:buChar char="•"/>
            </a:pPr>
            <a:r>
              <a:rPr lang="en-US" sz="1350" dirty="0">
                <a:solidFill>
                  <a:srgbClr val="16202F"/>
                </a:solidFill>
                <a:latin typeface="Calibri" pitchFamily="34" charset="0"/>
                <a:ea typeface="Calibri" pitchFamily="34" charset="-122"/>
                <a:cs typeface="Calibri" pitchFamily="34" charset="-120"/>
              </a:rPr>
              <a:t>Predicted result: a memory reduction at matched PSNR, and less view-dependent overfitting in sparsely observed regions.</a:t>
            </a:r>
            <a:endParaRPr lang="en-US" sz="1350" dirty="0"/>
          </a:p>
        </p:txBody>
      </p:sp>
      <p:sp>
        <p:nvSpPr>
          <p:cNvPr id="8" name="Text 6"/>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9" name="Text 7"/>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FALSIFIABLE CLAIMS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What is predicted — and what is not</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719072"/>
          <a:ext cx="10881360" cy="914400"/>
        </p:xfrm>
        <a:graphic>
          <a:graphicData uri="http://schemas.openxmlformats.org/drawingml/2006/table">
            <a:tbl>
              <a:tblPr/>
              <a:tblGrid>
                <a:gridCol w="2743200"/>
                <a:gridCol w="5212080"/>
                <a:gridCol w="2926080"/>
              </a:tblGrid>
              <a:tr h="42062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Regime</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Prediction</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Falsified if</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A · NeRF, implicit side</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The optimal encoding band L* falls monotonically as the capture is degraded: full orbit &gt; one-sided &gt; low-parallax</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L* is flat, or moves the wrong way</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Well-conditioned orbits</a:t>
                      </a:r>
                      <a:endParaRPr lang="en-US" sz="1100" dirty="0">
                        <a:latin typeface="Calibri" charset="0"/>
                        <a:ea typeface="Calibri" charset="0"/>
                        <a:cs typeface="Calibri" charset="0"/>
                      </a:endParaRPr>
                    </a:p>
                    <a:p>
                      <a:pPr algn="l" indent="0" marL="0">
                        <a:buNone/>
                      </a:pPr>
                      <a:r>
                        <a:rPr lang="en-US" sz="1100" dirty="0">
                          <a:solidFill>
                            <a:srgbClr val="16202F"/>
                          </a:solidFill>
                          <a:latin typeface="Calibri" pitchFamily="34" charset="0"/>
                          <a:ea typeface="Calibri" pitchFamily="34" charset="-122"/>
                          <a:cs typeface="Calibri" pitchFamily="34" charset="-120"/>
                        </a:rPr>
                        <a:t>(most of Mip-NeRF 360)</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Parity within noise — the filter sits at its floor almost everywhere</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Any systematic loss appears</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Low-parallax, one-sided,</a:t>
                      </a:r>
                      <a:endParaRPr lang="en-US" sz="1100" dirty="0">
                        <a:latin typeface="Calibri" charset="0"/>
                        <a:ea typeface="Calibri" charset="0"/>
                        <a:cs typeface="Calibri" charset="0"/>
                      </a:endParaRPr>
                    </a:p>
                    <a:p>
                      <a:pPr algn="l" indent="0" marL="0">
                        <a:buNone/>
                      </a:pPr>
                      <a:r>
                        <a:rPr lang="en-US" sz="1100" dirty="0">
                          <a:solidFill>
                            <a:srgbClr val="16202F"/>
                          </a:solidFill>
                          <a:latin typeface="Calibri" pitchFamily="34" charset="0"/>
                          <a:ea typeface="Calibri" pitchFamily="34" charset="-122"/>
                          <a:cs typeface="Calibri" pitchFamily="34" charset="-120"/>
                        </a:rPr>
                        <a:t>grazing (stress suite)</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Gain in held-out PSNR / LPIPS and depth error, from suppressing ray-aligned floaters</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No difference on ≥3 of 4 protocols</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Mixed focal length</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Gain — max-focal currently under-smooths every Gaussian whose best view is low-resolution</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Parity</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Sparse view (3/6/9)</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Gain with no learned prior; fewer views directly lower Λ</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Loss against vanilla 3DGS</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Memory (B2)</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Reduction at matched PSNR, dominating naive SH truncation</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Curve sits on or below truncation</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20624">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Train time within a few percent; render fps unchanged</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F"/>
                          </a:solidFill>
                          <a:latin typeface="Calibri" pitchFamily="34" charset="0"/>
                          <a:ea typeface="Calibri" pitchFamily="34" charset="-122"/>
                          <a:cs typeface="Calibri" pitchFamily="34" charset="-120"/>
                        </a:rPr>
                        <a:t>Any render-time regression</a:t>
                      </a:r>
                      <a:endParaRPr lang="en-US" sz="11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532120"/>
            <a:ext cx="10881360" cy="640080"/>
          </a:xfrm>
          <a:prstGeom prst="rect">
            <a:avLst/>
          </a:prstGeom>
          <a:noFill/>
          <a:ln/>
        </p:spPr>
        <p:txBody>
          <a:bodyPr wrap="square" lIns="0" tIns="0" rIns="0" bIns="0" rtlCol="0" anchor="ctr"/>
          <a:lstStyle/>
          <a:p>
            <a:pPr indent="0" marL="0">
              <a:lnSpc>
                <a:spcPts val="2200"/>
              </a:lnSpc>
              <a:buNone/>
            </a:pPr>
            <a:r>
              <a:rPr lang="en-US" sz="1450" i="1" dirty="0">
                <a:solidFill>
                  <a:srgbClr val="0D5F68"/>
                </a:solidFill>
                <a:latin typeface="Cambria" pitchFamily="34" charset="0"/>
                <a:ea typeface="Cambria" pitchFamily="34" charset="-122"/>
                <a:cs typeface="Cambria" pitchFamily="34" charset="-120"/>
              </a:rPr>
              <a:t>The method never sharpens, so training PSNR may fall slightly while held-out PSNR rises. That asymmetry is the signature of a generalisation gain, and reporting both is the cleanest evidence available.</a:t>
            </a:r>
            <a:endParaRPr lang="en-US" sz="1450" dirty="0"/>
          </a:p>
        </p:txBody>
      </p:sp>
      <p:sp>
        <p:nvSpPr>
          <p:cNvPr id="6"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7"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Why this is a signal-processing problem</a:t>
            </a:r>
            <a:endParaRPr lang="en-US" sz="3200" dirty="0"/>
          </a:p>
        </p:txBody>
      </p:sp>
      <p:sp>
        <p:nvSpPr>
          <p:cNvPr id="4" name="Shape 2"/>
          <p:cNvSpPr/>
          <p:nvPr/>
        </p:nvSpPr>
        <p:spPr>
          <a:xfrm>
            <a:off x="640080" y="1737360"/>
            <a:ext cx="5212080" cy="1783080"/>
          </a:xfrm>
          <a:prstGeom prst="roundRect">
            <a:avLst>
              <a:gd name="adj" fmla="val 3077"/>
            </a:avLst>
          </a:prstGeom>
          <a:solidFill>
            <a:srgbClr val="F1F4F8"/>
          </a:solidFill>
          <a:ln w="9525">
            <a:solidFill>
              <a:srgbClr val="D5DCE5"/>
            </a:solidFill>
            <a:prstDash val="solid"/>
          </a:ln>
        </p:spPr>
      </p:sp>
      <p:sp>
        <p:nvSpPr>
          <p:cNvPr id="5" name="Text 3"/>
          <p:cNvSpPr txBox="1"/>
          <p:nvPr/>
        </p:nvSpPr>
        <p:spPr>
          <a:xfrm>
            <a:off x="896112" y="1938528"/>
            <a:ext cx="470001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Sampling theory</a:t>
            </a:r>
            <a:endParaRPr lang="en-US" sz="1350" dirty="0"/>
          </a:p>
        </p:txBody>
      </p:sp>
      <p:sp>
        <p:nvSpPr>
          <p:cNvPr id="6" name="Text 4"/>
          <p:cNvSpPr txBox="1"/>
          <p:nvPr/>
        </p:nvSpPr>
        <p:spPr>
          <a:xfrm>
            <a:off x="896112" y="2304288"/>
            <a:ext cx="470001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Two filters, not one. The render-side anti-alias filter is set by the sharpest sampling rate — Mip-Splatting's 2D Mip filter, unchanged here. The representation-side limit is what the training views can support. Conflating them is the error in the scalar 3D filter.</a:t>
            </a:r>
            <a:endParaRPr lang="en-US" sz="1200" dirty="0"/>
          </a:p>
        </p:txBody>
      </p:sp>
      <p:sp>
        <p:nvSpPr>
          <p:cNvPr id="7" name="Shape 5"/>
          <p:cNvSpPr/>
          <p:nvPr/>
        </p:nvSpPr>
        <p:spPr>
          <a:xfrm>
            <a:off x="6309360" y="1737360"/>
            <a:ext cx="5212080" cy="1783080"/>
          </a:xfrm>
          <a:prstGeom prst="roundRect">
            <a:avLst>
              <a:gd name="adj" fmla="val 3077"/>
            </a:avLst>
          </a:prstGeom>
          <a:solidFill>
            <a:srgbClr val="F1F4F8"/>
          </a:solidFill>
          <a:ln w="9525">
            <a:solidFill>
              <a:srgbClr val="D5DCE5"/>
            </a:solidFill>
            <a:prstDash val="solid"/>
          </a:ln>
        </p:spPr>
      </p:sp>
      <p:sp>
        <p:nvSpPr>
          <p:cNvPr id="8" name="Text 6"/>
          <p:cNvSpPr txBox="1"/>
          <p:nvPr/>
        </p:nvSpPr>
        <p:spPr>
          <a:xfrm>
            <a:off x="6565392" y="1938528"/>
            <a:ext cx="470001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Estimation theory</a:t>
            </a:r>
            <a:endParaRPr lang="en-US" sz="1350" dirty="0"/>
          </a:p>
        </p:txBody>
      </p:sp>
      <p:sp>
        <p:nvSpPr>
          <p:cNvPr id="9" name="Text 7"/>
          <p:cNvSpPr txBox="1"/>
          <p:nvPr/>
        </p:nvSpPr>
        <p:spPr>
          <a:xfrm>
            <a:off x="6565392" y="2304288"/>
            <a:ext cx="470001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Λ_k is a Fisher information matrix; Λ_k⁻¹ is the Cramér–Rao bound on localising a feature there. Smoothing to the CRB is refusing to claim precision the measurement does not support.</a:t>
            </a:r>
            <a:endParaRPr lang="en-US" sz="1200" dirty="0"/>
          </a:p>
        </p:txBody>
      </p:sp>
      <p:sp>
        <p:nvSpPr>
          <p:cNvPr id="10" name="Shape 8"/>
          <p:cNvSpPr/>
          <p:nvPr/>
        </p:nvSpPr>
        <p:spPr>
          <a:xfrm>
            <a:off x="640080" y="3703320"/>
            <a:ext cx="5212080" cy="1783080"/>
          </a:xfrm>
          <a:prstGeom prst="roundRect">
            <a:avLst>
              <a:gd name="adj" fmla="val 3077"/>
            </a:avLst>
          </a:prstGeom>
          <a:solidFill>
            <a:srgbClr val="F1F4F8"/>
          </a:solidFill>
          <a:ln w="9525">
            <a:solidFill>
              <a:srgbClr val="D5DCE5"/>
            </a:solidFill>
            <a:prstDash val="solid"/>
          </a:ln>
        </p:spPr>
      </p:sp>
      <p:sp>
        <p:nvSpPr>
          <p:cNvPr id="11" name="Text 9"/>
          <p:cNvSpPr txBox="1"/>
          <p:nvPr/>
        </p:nvSpPr>
        <p:spPr>
          <a:xfrm>
            <a:off x="896112" y="3904488"/>
            <a:ext cx="470001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Identifiability</a:t>
            </a:r>
            <a:endParaRPr lang="en-US" sz="1350" dirty="0"/>
          </a:p>
        </p:txBody>
      </p:sp>
      <p:sp>
        <p:nvSpPr>
          <p:cNvPr id="12" name="Text 10"/>
          <p:cNvSpPr txBox="1"/>
          <p:nvPr/>
        </p:nvSpPr>
        <p:spPr>
          <a:xfrm>
            <a:off x="896112" y="4270248"/>
            <a:ext cx="470001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M2 is rank analysis of a design matrix. Masking unidentifiable coefficients is model-order selection, not a trick.</a:t>
            </a:r>
            <a:endParaRPr lang="en-US" sz="1200" dirty="0"/>
          </a:p>
        </p:txBody>
      </p:sp>
      <p:sp>
        <p:nvSpPr>
          <p:cNvPr id="13" name="Shape 11"/>
          <p:cNvSpPr/>
          <p:nvPr/>
        </p:nvSpPr>
        <p:spPr>
          <a:xfrm>
            <a:off x="6309360" y="3703320"/>
            <a:ext cx="5212080" cy="1783080"/>
          </a:xfrm>
          <a:prstGeom prst="roundRect">
            <a:avLst>
              <a:gd name="adj" fmla="val 3077"/>
            </a:avLst>
          </a:prstGeom>
          <a:solidFill>
            <a:srgbClr val="F1F4F8"/>
          </a:solidFill>
          <a:ln w="9525">
            <a:solidFill>
              <a:srgbClr val="D5DCE5"/>
            </a:solidFill>
            <a:prstDash val="solid"/>
          </a:ln>
        </p:spPr>
      </p:sp>
      <p:sp>
        <p:nvSpPr>
          <p:cNvPr id="14" name="Text 12"/>
          <p:cNvSpPr txBox="1"/>
          <p:nvPr/>
        </p:nvSpPr>
        <p:spPr>
          <a:xfrm>
            <a:off x="6565392" y="3904488"/>
            <a:ext cx="4700016" cy="310896"/>
          </a:xfrm>
          <a:prstGeom prst="rect">
            <a:avLst/>
          </a:prstGeom>
          <a:noFill/>
          <a:ln/>
        </p:spPr>
        <p:txBody>
          <a:bodyPr wrap="square" lIns="0" tIns="0" rIns="0" bIns="0" rtlCol="0" anchor="ctr"/>
          <a:lstStyle/>
          <a:p>
            <a:pPr indent="0" marL="0">
              <a:buNone/>
            </a:pPr>
            <a:r>
              <a:rPr lang="en-US" sz="1350" b="1" dirty="0">
                <a:solidFill>
                  <a:srgbClr val="C2582B"/>
                </a:solidFill>
                <a:latin typeface="Calibri" pitchFamily="34" charset="0"/>
                <a:ea typeface="Calibri" pitchFamily="34" charset="-122"/>
                <a:cs typeface="Calibri" pitchFamily="34" charset="-120"/>
              </a:rPr>
              <a:t>Rate–distortion</a:t>
            </a:r>
            <a:endParaRPr lang="en-US" sz="1350" dirty="0"/>
          </a:p>
        </p:txBody>
      </p:sp>
      <p:sp>
        <p:nvSpPr>
          <p:cNvPr id="15" name="Text 13"/>
          <p:cNvSpPr txBox="1"/>
          <p:nvPr/>
        </p:nvSpPr>
        <p:spPr>
          <a:xfrm>
            <a:off x="6565392" y="4270248"/>
            <a:ext cx="4700016" cy="1280160"/>
          </a:xfrm>
          <a:prstGeom prst="rect">
            <a:avLst/>
          </a:prstGeom>
          <a:noFill/>
          <a:ln/>
        </p:spPr>
        <p:txBody>
          <a:bodyPr wrap="square" lIns="0" tIns="0" rIns="0" bIns="0" rtlCol="0" anchor="t"/>
          <a:lstStyle/>
          <a:p>
            <a:pPr indent="0" marL="0">
              <a:lnSpc>
                <a:spcPts val="1700"/>
              </a:lnSpc>
              <a:buNone/>
            </a:pPr>
            <a:r>
              <a:rPr lang="en-US" sz="1200" dirty="0">
                <a:solidFill>
                  <a:srgbClr val="5B6B80"/>
                </a:solidFill>
                <a:latin typeface="Calibri" pitchFamily="34" charset="0"/>
                <a:ea typeface="Calibri" pitchFamily="34" charset="-122"/>
                <a:cs typeface="Calibri" pitchFamily="34" charset="-120"/>
              </a:rPr>
              <a:t>Removing coefficients the data cannot identify is source coding at the representation level, rather than entropy-coding them afterwards.</a:t>
            </a:r>
            <a:endParaRPr lang="en-US" sz="1200" dirty="0"/>
          </a:p>
        </p:txBody>
      </p:sp>
      <p:sp>
        <p:nvSpPr>
          <p:cNvPr id="16" name="Text 14"/>
          <p:cNvSpPr txBox="1"/>
          <p:nvPr/>
        </p:nvSpPr>
        <p:spPr>
          <a:xfrm>
            <a:off x="640080" y="5760720"/>
            <a:ext cx="10881360" cy="411480"/>
          </a:xfrm>
          <a:prstGeom prst="rect">
            <a:avLst/>
          </a:prstGeom>
          <a:noFill/>
          <a:ln/>
        </p:spPr>
        <p:txBody>
          <a:bodyPr wrap="square" lIns="0" tIns="0" rIns="0" bIns="0" rtlCol="0" anchor="ctr"/>
          <a:lstStyle/>
          <a:p>
            <a:pPr indent="0" marL="0">
              <a:buNone/>
            </a:pPr>
            <a:r>
              <a:rPr lang="en-US" sz="1500" i="1" dirty="0">
                <a:solidFill>
                  <a:srgbClr val="0D5F68"/>
                </a:solidFill>
                <a:latin typeface="Cambria" pitchFamily="34" charset="0"/>
                <a:ea typeface="Cambria" pitchFamily="34" charset="-122"/>
                <a:cs typeface="Cambria" pitchFamily="34" charset="-120"/>
              </a:rPr>
              <a:t>"3D Gaussian Splatting reconstructs a signal from non-uniform samples without a matched anti-alias filter."</a:t>
            </a:r>
            <a:endParaRPr lang="en-US" sz="1500" dirty="0"/>
          </a:p>
        </p:txBody>
      </p:sp>
      <p:sp>
        <p:nvSpPr>
          <p:cNvPr id="17" name="Text 15"/>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18" name="Text 16"/>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E9814F"/>
                </a:solidFill>
                <a:latin typeface="Calibri" pitchFamily="34" charset="0"/>
                <a:ea typeface="Calibri" pitchFamily="34" charset="-122"/>
                <a:cs typeface="Calibri" pitchFamily="34" charset="-120"/>
              </a:rPr>
              <a:t>PLAN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it will be evaluated</a:t>
            </a:r>
            <a:endParaRPr lang="en-US" sz="3200" dirty="0"/>
          </a:p>
        </p:txBody>
      </p:sp>
      <p:sp>
        <p:nvSpPr>
          <p:cNvPr id="4" name="Text 2"/>
          <p:cNvSpPr txBox="1"/>
          <p:nvPr/>
        </p:nvSpPr>
        <p:spPr>
          <a:xfrm>
            <a:off x="640080" y="1591056"/>
            <a:ext cx="2651760" cy="365760"/>
          </a:xfrm>
          <a:prstGeom prst="rect">
            <a:avLst/>
          </a:prstGeom>
          <a:noFill/>
          <a:ln/>
        </p:spPr>
        <p:txBody>
          <a:bodyPr wrap="square" lIns="0" tIns="0" rIns="0" bIns="0" rtlCol="0" anchor="t"/>
          <a:lstStyle/>
          <a:p>
            <a:pPr indent="0" marL="0">
              <a:buNone/>
            </a:pPr>
            <a:r>
              <a:rPr lang="en-US" sz="1800" b="1" dirty="0">
                <a:solidFill>
                  <a:srgbClr val="E9814F"/>
                </a:solidFill>
                <a:latin typeface="Cambria" pitchFamily="34" charset="0"/>
                <a:ea typeface="Cambria" pitchFamily="34" charset="-122"/>
                <a:cs typeface="Cambria" pitchFamily="34" charset="-120"/>
              </a:rPr>
              <a:t>Benchmarks</a:t>
            </a:r>
            <a:endParaRPr lang="en-US" sz="1800" dirty="0"/>
          </a:p>
        </p:txBody>
      </p:sp>
      <p:sp>
        <p:nvSpPr>
          <p:cNvPr id="5" name="Text 3"/>
          <p:cNvSpPr txBox="1"/>
          <p:nvPr/>
        </p:nvSpPr>
        <p:spPr>
          <a:xfrm>
            <a:off x="3566160" y="1609344"/>
            <a:ext cx="7955280" cy="868680"/>
          </a:xfrm>
          <a:prstGeom prst="rect">
            <a:avLst/>
          </a:prstGeom>
          <a:noFill/>
          <a:ln/>
        </p:spPr>
        <p:txBody>
          <a:bodyPr wrap="square" lIns="0" tIns="0" rIns="0" bIns="0" rtlCol="0" anchor="t"/>
          <a:lstStyle/>
          <a:p>
            <a:pPr indent="0" marL="0">
              <a:lnSpc>
                <a:spcPts val="1900"/>
              </a:lnSpc>
              <a:buNone/>
            </a:pPr>
            <a:r>
              <a:rPr lang="en-US" sz="1350" dirty="0">
                <a:solidFill>
                  <a:srgbClr val="E8EDF4"/>
                </a:solidFill>
                <a:latin typeface="Calibri" pitchFamily="34" charset="0"/>
                <a:ea typeface="Calibri" pitchFamily="34" charset="-122"/>
                <a:cs typeface="Calibri" pitchFamily="34" charset="-120"/>
              </a:rPr>
              <a:t>Mip-NeRF 360 (9), Tanks &amp; Temples (2), Deep Blending (2), Blender synthetic (8). Baselines re-run in-house: 3DGS, Mip-Splatting, 3DGS-MCMC at matched budget.</a:t>
            </a:r>
            <a:endParaRPr lang="en-US" sz="1350" dirty="0"/>
          </a:p>
        </p:txBody>
      </p:sp>
      <p:sp>
        <p:nvSpPr>
          <p:cNvPr id="6" name="Text 4"/>
          <p:cNvSpPr txBox="1"/>
          <p:nvPr/>
        </p:nvSpPr>
        <p:spPr>
          <a:xfrm>
            <a:off x="640080" y="2596896"/>
            <a:ext cx="2651760" cy="365760"/>
          </a:xfrm>
          <a:prstGeom prst="rect">
            <a:avLst/>
          </a:prstGeom>
          <a:noFill/>
          <a:ln/>
        </p:spPr>
        <p:txBody>
          <a:bodyPr wrap="square" lIns="0" tIns="0" rIns="0" bIns="0" rtlCol="0" anchor="t"/>
          <a:lstStyle/>
          <a:p>
            <a:pPr indent="0" marL="0">
              <a:buNone/>
            </a:pPr>
            <a:r>
              <a:rPr lang="en-US" sz="1800" b="1" dirty="0">
                <a:solidFill>
                  <a:srgbClr val="E9814F"/>
                </a:solidFill>
                <a:latin typeface="Cambria" pitchFamily="34" charset="0"/>
                <a:ea typeface="Cambria" pitchFamily="34" charset="-122"/>
                <a:cs typeface="Cambria" pitchFamily="34" charset="-120"/>
              </a:rPr>
              <a:t>Protocol</a:t>
            </a:r>
            <a:endParaRPr lang="en-US" sz="1800" dirty="0"/>
          </a:p>
        </p:txBody>
      </p:sp>
      <p:sp>
        <p:nvSpPr>
          <p:cNvPr id="7" name="Text 5"/>
          <p:cNvSpPr txBox="1"/>
          <p:nvPr/>
        </p:nvSpPr>
        <p:spPr>
          <a:xfrm>
            <a:off x="3566160" y="2615184"/>
            <a:ext cx="7955280" cy="868680"/>
          </a:xfrm>
          <a:prstGeom prst="rect">
            <a:avLst/>
          </a:prstGeom>
          <a:noFill/>
          <a:ln/>
        </p:spPr>
        <p:txBody>
          <a:bodyPr wrap="square" lIns="0" tIns="0" rIns="0" bIns="0" rtlCol="0" anchor="t"/>
          <a:lstStyle/>
          <a:p>
            <a:pPr indent="0" marL="0">
              <a:lnSpc>
                <a:spcPts val="1900"/>
              </a:lnSpc>
              <a:buNone/>
            </a:pPr>
            <a:r>
              <a:rPr lang="en-US" sz="1350" dirty="0">
                <a:solidFill>
                  <a:srgbClr val="E8EDF4"/>
                </a:solidFill>
                <a:latin typeface="Calibri" pitchFamily="34" charset="0"/>
                <a:ea typeface="Calibri" pitchFamily="34" charset="-122"/>
                <a:cs typeface="Calibri" pitchFamily="34" charset="-120"/>
              </a:rPr>
              <a:t>Single-scale train, multi-scale test at 1×, ½×, ¼×, ⅛× — the standard test for scale robustness.</a:t>
            </a:r>
            <a:endParaRPr lang="en-US" sz="1350" dirty="0"/>
          </a:p>
        </p:txBody>
      </p:sp>
      <p:sp>
        <p:nvSpPr>
          <p:cNvPr id="8" name="Text 6"/>
          <p:cNvSpPr txBox="1"/>
          <p:nvPr/>
        </p:nvSpPr>
        <p:spPr>
          <a:xfrm>
            <a:off x="640080" y="3602736"/>
            <a:ext cx="2651760" cy="365760"/>
          </a:xfrm>
          <a:prstGeom prst="rect">
            <a:avLst/>
          </a:prstGeom>
          <a:noFill/>
          <a:ln/>
        </p:spPr>
        <p:txBody>
          <a:bodyPr wrap="square" lIns="0" tIns="0" rIns="0" bIns="0" rtlCol="0" anchor="t"/>
          <a:lstStyle/>
          <a:p>
            <a:pPr indent="0" marL="0">
              <a:buNone/>
            </a:pPr>
            <a:r>
              <a:rPr lang="en-US" sz="1800" b="1" dirty="0">
                <a:solidFill>
                  <a:srgbClr val="E9814F"/>
                </a:solidFill>
                <a:latin typeface="Cambria" pitchFamily="34" charset="0"/>
                <a:ea typeface="Cambria" pitchFamily="34" charset="-122"/>
                <a:cs typeface="Cambria" pitchFamily="34" charset="-120"/>
              </a:rPr>
              <a:t>New stress suite</a:t>
            </a:r>
            <a:endParaRPr lang="en-US" sz="1800" dirty="0"/>
          </a:p>
        </p:txBody>
      </p:sp>
      <p:sp>
        <p:nvSpPr>
          <p:cNvPr id="9" name="Text 7"/>
          <p:cNvSpPr txBox="1"/>
          <p:nvPr/>
        </p:nvSpPr>
        <p:spPr>
          <a:xfrm>
            <a:off x="3566160" y="3621024"/>
            <a:ext cx="7955280" cy="868680"/>
          </a:xfrm>
          <a:prstGeom prst="rect">
            <a:avLst/>
          </a:prstGeom>
          <a:noFill/>
          <a:ln/>
        </p:spPr>
        <p:txBody>
          <a:bodyPr wrap="square" lIns="0" tIns="0" rIns="0" bIns="0" rtlCol="0" anchor="t"/>
          <a:lstStyle/>
          <a:p>
            <a:pPr indent="0" marL="0">
              <a:lnSpc>
                <a:spcPts val="1900"/>
              </a:lnSpc>
              <a:buNone/>
            </a:pPr>
            <a:r>
              <a:rPr lang="en-US" sz="1350" dirty="0">
                <a:solidFill>
                  <a:srgbClr val="E8EDF4"/>
                </a:solidFill>
                <a:latin typeface="Calibri" pitchFamily="34" charset="0"/>
                <a:ea typeface="Calibri" pitchFamily="34" charset="-122"/>
                <a:cs typeface="Calibri" pitchFamily="34" charset="-120"/>
              </a:rPr>
              <a:t>Four camera-subset protocols built from the same images: low-parallax, one-sided arc, mixed focal length, grazing incidence. The regime the method is predicted to win, and a contribution in itself.</a:t>
            </a:r>
            <a:endParaRPr lang="en-US" sz="1350" dirty="0"/>
          </a:p>
        </p:txBody>
      </p:sp>
      <p:sp>
        <p:nvSpPr>
          <p:cNvPr id="10" name="Text 8"/>
          <p:cNvSpPr txBox="1"/>
          <p:nvPr/>
        </p:nvSpPr>
        <p:spPr>
          <a:xfrm>
            <a:off x="640080" y="4608576"/>
            <a:ext cx="2651760" cy="365760"/>
          </a:xfrm>
          <a:prstGeom prst="rect">
            <a:avLst/>
          </a:prstGeom>
          <a:noFill/>
          <a:ln/>
        </p:spPr>
        <p:txBody>
          <a:bodyPr wrap="square" lIns="0" tIns="0" rIns="0" bIns="0" rtlCol="0" anchor="t"/>
          <a:lstStyle/>
          <a:p>
            <a:pPr indent="0" marL="0">
              <a:buNone/>
            </a:pPr>
            <a:r>
              <a:rPr lang="en-US" sz="1800" b="1" dirty="0">
                <a:solidFill>
                  <a:srgbClr val="E9814F"/>
                </a:solidFill>
                <a:latin typeface="Cambria" pitchFamily="34" charset="0"/>
                <a:ea typeface="Cambria" pitchFamily="34" charset="-122"/>
                <a:cs typeface="Cambria" pitchFamily="34" charset="-120"/>
              </a:rPr>
              <a:t>Rigour</a:t>
            </a:r>
            <a:endParaRPr lang="en-US" sz="1800" dirty="0"/>
          </a:p>
        </p:txBody>
      </p:sp>
      <p:sp>
        <p:nvSpPr>
          <p:cNvPr id="11" name="Text 9"/>
          <p:cNvSpPr txBox="1"/>
          <p:nvPr/>
        </p:nvSpPr>
        <p:spPr>
          <a:xfrm>
            <a:off x="3566160" y="4626864"/>
            <a:ext cx="7955280" cy="868680"/>
          </a:xfrm>
          <a:prstGeom prst="rect">
            <a:avLst/>
          </a:prstGeom>
          <a:noFill/>
          <a:ln/>
        </p:spPr>
        <p:txBody>
          <a:bodyPr wrap="square" lIns="0" tIns="0" rIns="0" bIns="0" rtlCol="0" anchor="t"/>
          <a:lstStyle/>
          <a:p>
            <a:pPr indent="0" marL="0">
              <a:lnSpc>
                <a:spcPts val="1900"/>
              </a:lnSpc>
              <a:buNone/>
            </a:pPr>
            <a:r>
              <a:rPr lang="en-US" sz="1350" dirty="0">
                <a:solidFill>
                  <a:srgbClr val="E8EDF4"/>
                </a:solidFill>
                <a:latin typeface="Calibri" pitchFamily="34" charset="0"/>
                <a:ea typeface="Calibri" pitchFamily="34" charset="-122"/>
                <a:cs typeface="Calibri" pitchFamily="34" charset="-120"/>
              </a:rPr>
              <a:t>Three seeds, mean ± std, paired per-scene deltas. Seven ablations from isotropic-vs-anisotropic through clamp sensitivity. Every table regenerable by one command.</a:t>
            </a:r>
            <a:endParaRPr lang="en-US" sz="1350" dirty="0"/>
          </a:p>
        </p:txBody>
      </p:sp>
      <p:sp>
        <p:nvSpPr>
          <p:cNvPr id="12" name="Text 10"/>
          <p:cNvSpPr txBox="1"/>
          <p:nvPr/>
        </p:nvSpPr>
        <p:spPr>
          <a:xfrm>
            <a:off x="640080" y="5623560"/>
            <a:ext cx="10881360" cy="548640"/>
          </a:xfrm>
          <a:prstGeom prst="rect">
            <a:avLst/>
          </a:prstGeom>
          <a:noFill/>
          <a:ln/>
        </p:spPr>
        <p:txBody>
          <a:bodyPr wrap="square" lIns="0" tIns="0" rIns="0" bIns="0" rtlCol="0" anchor="ctr"/>
          <a:lstStyle/>
          <a:p>
            <a:pPr indent="0" marL="0">
              <a:buNone/>
            </a:pPr>
            <a:r>
              <a:rPr lang="en-US" sz="1450" i="1" dirty="0">
                <a:solidFill>
                  <a:srgbClr val="9DACC0"/>
                </a:solidFill>
                <a:latin typeface="Cambria" pitchFamily="34" charset="0"/>
                <a:ea typeface="Cambria" pitchFamily="34" charset="-122"/>
                <a:cs typeface="Cambria" pitchFamily="34" charset="-120"/>
              </a:rPr>
              <a:t>Parity on standard benchmarks is the prediction, not the risk — the floor guarantees it. The diagnostic reports what fraction of Gaussians sit above the floor, which makes parity interpretable.</a:t>
            </a:r>
            <a:endParaRPr lang="en-US" sz="1450" dirty="0"/>
          </a:p>
        </p:txBody>
      </p:sp>
      <p:sp>
        <p:nvSpPr>
          <p:cNvPr id="13" name="Text 11"/>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Part IV · Proposal</a:t>
            </a:r>
            <a:endParaRPr lang="en-US" sz="950" dirty="0"/>
          </a:p>
        </p:txBody>
      </p:sp>
      <p:sp>
        <p:nvSpPr>
          <p:cNvPr id="14" name="Text 12"/>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PLAN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Two semesters</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103120"/>
                <a:gridCol w="5120640"/>
                <a:gridCol w="365760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Weeks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Work</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Exit criterion</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6202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Autumn W1–2</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Reproduce 3DGS and Mip-Splatting; build the evaluation harness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Within 0.2 dB of published numbers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Autumn W3–5</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Derive B1; build the stress suite; implement Λ accumulation</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Reduction-to-Mip-Splatting unit test passes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Autumn W6–8</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First full evaluation; ablations; mid-term report and seminar</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An honest table, including losses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Autumn W9–13</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B2 identifiability, memory study, 13-scene run, Part-I viva</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Complete main table, no missing cells</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Spring S1–4</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Three-seed rerun; sparse-view experiments; B3 densification</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Claims supported or explicitly withdrawn</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Spring S5–8</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Paper draft, submission, code release, reviewer-proofing</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Submission ID; public repo reproducing Table 1</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Spring S9–14</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Thesis, final slides, live demo, viva</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F"/>
                          </a:solidFill>
                          <a:latin typeface="Calibri" pitchFamily="34" charset="0"/>
                          <a:ea typeface="Calibri" pitchFamily="34" charset="-122"/>
                          <a:cs typeface="Calibri" pitchFamily="34" charset="-120"/>
                        </a:rPr>
                        <a:t>Submitted</a:t>
                      </a:r>
                      <a:endParaRPr lang="en-US" sz="125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623560"/>
            <a:ext cx="10881360" cy="411480"/>
          </a:xfrm>
          <a:prstGeom prst="rect">
            <a:avLst/>
          </a:prstGeom>
          <a:noFill/>
          <a:ln/>
        </p:spPr>
        <p:txBody>
          <a:bodyPr wrap="square" lIns="0" tIns="0" rIns="0" bIns="0" rtlCol="0" anchor="ctr"/>
          <a:lstStyle/>
          <a:p>
            <a:pPr indent="0" marL="0">
              <a:buNone/>
            </a:pPr>
            <a:r>
              <a:rPr lang="en-US" sz="1550" i="1" dirty="0">
                <a:solidFill>
                  <a:srgbClr val="0D5F68"/>
                </a:solidFill>
                <a:latin typeface="Cambria" pitchFamily="34" charset="0"/>
                <a:ea typeface="Cambria" pitchFamily="34" charset="-122"/>
                <a:cs typeface="Cambria" pitchFamily="34" charset="-120"/>
              </a:rPr>
              <a:t>B1 alone is a complete project. B2 and B3 are upside, and are the first things to cut.</a:t>
            </a:r>
            <a:endParaRPr lang="en-US" sz="1550" dirty="0"/>
          </a:p>
        </p:txBody>
      </p:sp>
      <p:sp>
        <p:nvSpPr>
          <p:cNvPr id="6" name="Text 3"/>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5B6B80"/>
                </a:solidFill>
                <a:latin typeface="Calibri" pitchFamily="34" charset="0"/>
                <a:ea typeface="Calibri" pitchFamily="34" charset="-122"/>
                <a:cs typeface="Calibri" pitchFamily="34" charset="-120"/>
              </a:rPr>
              <a:t>Part IV · Proposal</a:t>
            </a:r>
            <a:endParaRPr lang="en-US" sz="950" dirty="0"/>
          </a:p>
        </p:txBody>
      </p:sp>
      <p:sp>
        <p:nvSpPr>
          <p:cNvPr id="7" name="Text 4"/>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1325880"/>
            <a:ext cx="10881360" cy="320040"/>
          </a:xfrm>
          <a:prstGeom prst="rect">
            <a:avLst/>
          </a:prstGeom>
          <a:noFill/>
          <a:ln/>
        </p:spPr>
        <p:txBody>
          <a:bodyPr wrap="square" lIns="0" tIns="0" rIns="0" bIns="0" rtlCol="0" anchor="ctr"/>
          <a:lstStyle/>
          <a:p>
            <a:pPr indent="0" marL="0">
              <a:buNone/>
            </a:pPr>
            <a:r>
              <a:rPr lang="en-US" sz="1200" b="1" spc="260" kern="0" dirty="0">
                <a:solidFill>
                  <a:srgbClr val="E9814F"/>
                </a:solidFill>
                <a:latin typeface="Calibri" pitchFamily="34" charset="0"/>
                <a:ea typeface="Calibri" pitchFamily="34" charset="-122"/>
                <a:cs typeface="Calibri" pitchFamily="34" charset="-120"/>
              </a:rPr>
              <a:t>IN ONE SENTENCE</a:t>
            </a:r>
            <a:endParaRPr lang="en-US" sz="1200" dirty="0"/>
          </a:p>
        </p:txBody>
      </p:sp>
      <p:sp>
        <p:nvSpPr>
          <p:cNvPr id="3" name="Text 1"/>
          <p:cNvSpPr txBox="1"/>
          <p:nvPr/>
        </p:nvSpPr>
        <p:spPr>
          <a:xfrm>
            <a:off x="640080" y="1783080"/>
            <a:ext cx="10424160" cy="1920240"/>
          </a:xfrm>
          <a:prstGeom prst="rect">
            <a:avLst/>
          </a:prstGeom>
          <a:noFill/>
          <a:ln/>
        </p:spPr>
        <p:txBody>
          <a:bodyPr wrap="square" lIns="0" tIns="0" rIns="0" bIns="0" rtlCol="0" anchor="t"/>
          <a:lstStyle/>
          <a:p>
            <a:pPr indent="0" marL="0">
              <a:lnSpc>
                <a:spcPts val="4000"/>
              </a:lnSpc>
              <a:buNone/>
            </a:pPr>
            <a:r>
              <a:rPr lang="en-US" sz="2600" b="1" dirty="0">
                <a:solidFill>
                  <a:srgbClr val="FFFFFF"/>
                </a:solidFill>
                <a:latin typeface="Cambria" pitchFamily="34" charset="0"/>
                <a:ea typeface="Cambria" pitchFamily="34" charset="-122"/>
                <a:cs typeface="Cambria" pitchFamily="34" charset="-120"/>
              </a:rPr>
              <a:t>The size limit on a splatting primitive should be the inverse of the accumulated sampling Fisher information, floored at the per-view Nyquist limit — a matrix, not a scalar.</a:t>
            </a:r>
            <a:endParaRPr lang="en-US" sz="2600" dirty="0"/>
          </a:p>
        </p:txBody>
      </p:sp>
      <p:sp>
        <p:nvSpPr>
          <p:cNvPr id="4" name="Text 2"/>
          <p:cNvSpPr txBox="1"/>
          <p:nvPr/>
        </p:nvSpPr>
        <p:spPr>
          <a:xfrm>
            <a:off x="640080" y="3611880"/>
            <a:ext cx="9692640" cy="457200"/>
          </a:xfrm>
          <a:prstGeom prst="rect">
            <a:avLst/>
          </a:prstGeom>
          <a:noFill/>
          <a:ln/>
        </p:spPr>
        <p:txBody>
          <a:bodyPr wrap="square" lIns="0" tIns="0" rIns="0" bIns="0" rtlCol="0" anchor="t"/>
          <a:lstStyle/>
          <a:p>
            <a:pPr indent="0" marL="0">
              <a:buNone/>
            </a:pPr>
            <a:r>
              <a:rPr lang="en-US" sz="1700" i="1" dirty="0">
                <a:solidFill>
                  <a:srgbClr val="9DACC0"/>
                </a:solidFill>
                <a:latin typeface="Cambria" pitchFamily="34" charset="0"/>
                <a:ea typeface="Cambria" pitchFamily="34" charset="-122"/>
                <a:cs typeface="Cambria" pitchFamily="34" charset="-120"/>
              </a:rPr>
              <a:t>One quantity, computed from the camera poses alone, that addresses ray-aligned floaters and spherical-harmonic overfitting together.</a:t>
            </a:r>
            <a:endParaRPr lang="en-US" sz="1700" dirty="0"/>
          </a:p>
        </p:txBody>
      </p:sp>
      <p:sp>
        <p:nvSpPr>
          <p:cNvPr id="5" name="Shape 3"/>
          <p:cNvSpPr/>
          <p:nvPr/>
        </p:nvSpPr>
        <p:spPr>
          <a:xfrm>
            <a:off x="640080" y="4251960"/>
            <a:ext cx="2926080" cy="0"/>
          </a:xfrm>
          <a:prstGeom prst="line">
            <a:avLst/>
          </a:prstGeom>
          <a:noFill/>
          <a:ln w="12700">
            <a:solidFill>
              <a:srgbClr val="2A3546"/>
            </a:solidFill>
            <a:prstDash val="solid"/>
          </a:ln>
        </p:spPr>
      </p:sp>
      <p:sp>
        <p:nvSpPr>
          <p:cNvPr id="6" name="Text 4"/>
          <p:cNvSpPr txBox="1"/>
          <p:nvPr/>
        </p:nvSpPr>
        <p:spPr>
          <a:xfrm>
            <a:off x="640080" y="4526280"/>
            <a:ext cx="3429000" cy="365760"/>
          </a:xfrm>
          <a:prstGeom prst="rect">
            <a:avLst/>
          </a:prstGeom>
          <a:noFill/>
          <a:ln/>
        </p:spPr>
        <p:txBody>
          <a:bodyPr wrap="square" lIns="0" tIns="0" rIns="0" bIns="0" rtlCol="0" anchor="t"/>
          <a:lstStyle/>
          <a:p>
            <a:pPr indent="0" marL="0">
              <a:buNone/>
            </a:pPr>
            <a:r>
              <a:rPr lang="en-US" sz="1700" b="1" dirty="0">
                <a:solidFill>
                  <a:srgbClr val="E9814F"/>
                </a:solidFill>
                <a:latin typeface="Cambria" pitchFamily="34" charset="0"/>
                <a:ea typeface="Cambria" pitchFamily="34" charset="-122"/>
                <a:cs typeface="Cambria" pitchFamily="34" charset="-120"/>
              </a:rPr>
              <a:t>Verifiable gap</a:t>
            </a:r>
            <a:endParaRPr lang="en-US" sz="1700" dirty="0"/>
          </a:p>
        </p:txBody>
      </p:sp>
      <p:sp>
        <p:nvSpPr>
          <p:cNvPr id="7" name="Text 5"/>
          <p:cNvSpPr txBox="1"/>
          <p:nvPr/>
        </p:nvSpPr>
        <p:spPr>
          <a:xfrm>
            <a:off x="640080" y="4919472"/>
            <a:ext cx="3429000" cy="914400"/>
          </a:xfrm>
          <a:prstGeom prst="rect">
            <a:avLst/>
          </a:prstGeom>
          <a:noFill/>
          <a:ln/>
        </p:spPr>
        <p:txBody>
          <a:bodyPr wrap="square" lIns="0" tIns="0" rIns="0" bIns="0" rtlCol="0" anchor="t"/>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Confirmed in the baseline's own source, not inferred from prose.</a:t>
            </a:r>
            <a:endParaRPr lang="en-US" sz="1300" dirty="0"/>
          </a:p>
        </p:txBody>
      </p:sp>
      <p:sp>
        <p:nvSpPr>
          <p:cNvPr id="8" name="Text 6"/>
          <p:cNvSpPr txBox="1"/>
          <p:nvPr/>
        </p:nvSpPr>
        <p:spPr>
          <a:xfrm>
            <a:off x="4343400" y="4526280"/>
            <a:ext cx="3429000" cy="365760"/>
          </a:xfrm>
          <a:prstGeom prst="rect">
            <a:avLst/>
          </a:prstGeom>
          <a:noFill/>
          <a:ln/>
        </p:spPr>
        <p:txBody>
          <a:bodyPr wrap="square" lIns="0" tIns="0" rIns="0" bIns="0" rtlCol="0" anchor="t"/>
          <a:lstStyle/>
          <a:p>
            <a:pPr indent="0" marL="0">
              <a:buNone/>
            </a:pPr>
            <a:r>
              <a:rPr lang="en-US" sz="1700" b="1" dirty="0">
                <a:solidFill>
                  <a:srgbClr val="E9814F"/>
                </a:solidFill>
                <a:latin typeface="Cambria" pitchFamily="34" charset="0"/>
                <a:ea typeface="Cambria" pitchFamily="34" charset="-122"/>
                <a:cs typeface="Cambria" pitchFamily="34" charset="-120"/>
              </a:rPr>
              <a:t>Feasible</a:t>
            </a:r>
            <a:endParaRPr lang="en-US" sz="1700" dirty="0"/>
          </a:p>
        </p:txBody>
      </p:sp>
      <p:sp>
        <p:nvSpPr>
          <p:cNvPr id="9" name="Text 7"/>
          <p:cNvSpPr txBox="1"/>
          <p:nvPr/>
        </p:nvSpPr>
        <p:spPr>
          <a:xfrm>
            <a:off x="4343400" y="4919472"/>
            <a:ext cx="3429000" cy="914400"/>
          </a:xfrm>
          <a:prstGeom prst="rect">
            <a:avLst/>
          </a:prstGeom>
          <a:noFill/>
          <a:ln/>
        </p:spPr>
        <p:txBody>
          <a:bodyPr wrap="square" lIns="0" tIns="0" rIns="0" bIns="0" rtlCol="0" anchor="t"/>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One GPU. No pretraining. Closed-form, no added training cost.</a:t>
            </a:r>
            <a:endParaRPr lang="en-US" sz="1300" dirty="0"/>
          </a:p>
        </p:txBody>
      </p:sp>
      <p:sp>
        <p:nvSpPr>
          <p:cNvPr id="10" name="Text 8"/>
          <p:cNvSpPr txBox="1"/>
          <p:nvPr/>
        </p:nvSpPr>
        <p:spPr>
          <a:xfrm>
            <a:off x="8046720" y="4526280"/>
            <a:ext cx="3429000" cy="365760"/>
          </a:xfrm>
          <a:prstGeom prst="rect">
            <a:avLst/>
          </a:prstGeom>
          <a:noFill/>
          <a:ln/>
        </p:spPr>
        <p:txBody>
          <a:bodyPr wrap="square" lIns="0" tIns="0" rIns="0" bIns="0" rtlCol="0" anchor="t"/>
          <a:lstStyle/>
          <a:p>
            <a:pPr indent="0" marL="0">
              <a:buNone/>
            </a:pPr>
            <a:r>
              <a:rPr lang="en-US" sz="1700" b="1" dirty="0">
                <a:solidFill>
                  <a:srgbClr val="E9814F"/>
                </a:solidFill>
                <a:latin typeface="Cambria" pitchFamily="34" charset="0"/>
                <a:ea typeface="Cambria" pitchFamily="34" charset="-122"/>
                <a:cs typeface="Cambria" pitchFamily="34" charset="-120"/>
              </a:rPr>
              <a:t>Defensible</a:t>
            </a:r>
            <a:endParaRPr lang="en-US" sz="1700" dirty="0"/>
          </a:p>
        </p:txBody>
      </p:sp>
      <p:sp>
        <p:nvSpPr>
          <p:cNvPr id="11" name="Text 9"/>
          <p:cNvSpPr txBox="1"/>
          <p:nvPr/>
        </p:nvSpPr>
        <p:spPr>
          <a:xfrm>
            <a:off x="8046720" y="4919472"/>
            <a:ext cx="3429000" cy="914400"/>
          </a:xfrm>
          <a:prstGeom prst="rect">
            <a:avLst/>
          </a:prstGeom>
          <a:noFill/>
          <a:ln/>
        </p:spPr>
        <p:txBody>
          <a:bodyPr wrap="square" lIns="0" tIns="0" rIns="0" bIns="0" rtlCol="0" anchor="t"/>
          <a:lstStyle/>
          <a:p>
            <a:pPr indent="0" marL="0">
              <a:lnSpc>
                <a:spcPts val="1900"/>
              </a:lnSpc>
              <a:buNone/>
            </a:pPr>
            <a:r>
              <a:rPr lang="en-US" sz="1300" dirty="0">
                <a:solidFill>
                  <a:srgbClr val="9DACC0"/>
                </a:solidFill>
                <a:latin typeface="Calibri" pitchFamily="34" charset="0"/>
                <a:ea typeface="Calibri" pitchFamily="34" charset="-122"/>
                <a:cs typeface="Calibri" pitchFamily="34" charset="-120"/>
              </a:rPr>
              <a:t>Nyquist, Cramér–Rao, identifiability — answerable from first principles.</a:t>
            </a:r>
            <a:endParaRPr lang="en-US" sz="1300" dirty="0"/>
          </a:p>
        </p:txBody>
      </p:sp>
      <p:sp>
        <p:nvSpPr>
          <p:cNvPr id="12" name="Text 10"/>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950" b="1" spc="160" kern="0" dirty="0">
                <a:solidFill>
                  <a:srgbClr val="9DACC0"/>
                </a:solidFill>
                <a:latin typeface="Calibri" pitchFamily="34" charset="0"/>
                <a:ea typeface="Calibri" pitchFamily="34" charset="-122"/>
                <a:cs typeface="Calibri" pitchFamily="34" charset="-120"/>
              </a:rPr>
              <a:t>Thank you · Questions</a:t>
            </a:r>
            <a:endParaRPr lang="en-US" sz="950" dirty="0"/>
          </a:p>
        </p:txBody>
      </p:sp>
      <p:sp>
        <p:nvSpPr>
          <p:cNvPr id="13" name="Text 11"/>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9DACC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100" b="1" spc="220" kern="0" dirty="0">
                <a:solidFill>
                  <a:srgbClr val="C2582B"/>
                </a:solidFill>
                <a:latin typeface="Calibri" pitchFamily="34" charset="0"/>
                <a:ea typeface="Calibri" pitchFamily="34" charset="-122"/>
                <a:cs typeface="Calibri" pitchFamily="34" charset="-120"/>
              </a:rPr>
              <a:t>BIBLIOGRAPHY — READ BEFORE CITING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6202F"/>
                </a:solidFill>
                <a:latin typeface="Cambria" pitchFamily="34" charset="0"/>
                <a:ea typeface="Cambria" pitchFamily="34" charset="-122"/>
                <a:cs typeface="Cambria" pitchFamily="34" charset="-120"/>
              </a:rPr>
              <a:t>References</a:t>
            </a:r>
            <a:endParaRPr lang="en-US" sz="3200" dirty="0"/>
          </a:p>
        </p:txBody>
      </p:sp>
      <p:sp>
        <p:nvSpPr>
          <p:cNvPr id="4" name="Text 2"/>
          <p:cNvSpPr txBox="1"/>
          <p:nvPr/>
        </p:nvSpPr>
        <p:spPr>
          <a:xfrm>
            <a:off x="640080" y="1600200"/>
            <a:ext cx="5212080" cy="4206240"/>
          </a:xfrm>
          <a:prstGeom prst="rect">
            <a:avLst/>
          </a:prstGeom>
          <a:noFill/>
          <a:ln/>
        </p:spPr>
        <p:txBody>
          <a:bodyPr wrap="square" lIns="0" tIns="0" rIns="0" bIns="0" rtlCol="0" anchor="t"/>
          <a:lstStyle/>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Kerbl, Kopanas, Leimkühler, Drettakis. 3D Gaussian Splatting for Real-Time Radiance Field Rendering. ACM TOG 42(4), 2023.</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Chai, Tong, Chan, Shum. Plenoptic Sampling. SIGGRAPH, 2000.</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Durand, Holzschuch, Soler, Chan, Sillion. A Frequency Analysis of Light Transport. SIGGRAPH, 2005.</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Zwicker, Pfister, van Baar, Gross. EWA Volume Splatting. IEEE VIS, 2001.</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Mildenhall et al. NeRF. ECCV, 2020.</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Barron et al. Mip-NeRF 360. CVPR, 2022.</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Müller et al. Instant Neural Graphics Primitives. ACM TOG 41(4), 2022.</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Fridovich-Keil and Yu et al. Plenoxels. CVPR, 2022.</a:t>
            </a:r>
            <a:endParaRPr lang="en-US" sz="1250" dirty="0"/>
          </a:p>
        </p:txBody>
      </p:sp>
      <p:sp>
        <p:nvSpPr>
          <p:cNvPr id="5" name="Text 3"/>
          <p:cNvSpPr txBox="1"/>
          <p:nvPr/>
        </p:nvSpPr>
        <p:spPr>
          <a:xfrm>
            <a:off x="6309360" y="1600200"/>
            <a:ext cx="5212080" cy="4206240"/>
          </a:xfrm>
          <a:prstGeom prst="rect">
            <a:avLst/>
          </a:prstGeom>
          <a:noFill/>
          <a:ln/>
        </p:spPr>
        <p:txBody>
          <a:bodyPr wrap="square" lIns="0" tIns="0" rIns="0" bIns="0" rtlCol="0" anchor="t"/>
          <a:lstStyle/>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Yu, Chen et al. Mip-Splatting: Alias-free 3D Gaussian Splatting. CVPR, 2024.</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Liang et al. Analytic-Splatting. ECCV, 2024.</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Yan et al. Multi-Scale 3D Gaussian Splatting. CVPR, 2024.</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Steiner et al. AAA-Gaussians. ICCV, 2025.</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Kheradmand et al. 3D Gaussian Splatting as Markov Chain Monte Carlo. NeurIPS, 2024.</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Jiang et al. FisherRF. ECCV, 2024.  ·  Hanson et al. PUP 3D-GS. CVPR, 2025.</a:t>
            </a:r>
            <a:endParaRPr lang="en-US" sz="1250" dirty="0"/>
          </a:p>
          <a:p>
            <a:pPr marL="177800" indent="-177800">
              <a:lnSpc>
                <a:spcPts val="1900"/>
              </a:lnSpc>
              <a:spcAft>
                <a:spcPts val="1500"/>
              </a:spcAft>
              <a:buSzPct val="100000"/>
              <a:buChar char="•"/>
            </a:pPr>
            <a:r>
              <a:rPr lang="en-US" sz="1250" dirty="0">
                <a:solidFill>
                  <a:srgbClr val="5B6B80"/>
                </a:solidFill>
                <a:latin typeface="Calibri" pitchFamily="34" charset="0"/>
                <a:ea typeface="Calibri" pitchFamily="34" charset="-122"/>
                <a:cs typeface="Calibri" pitchFamily="34" charset="-120"/>
              </a:rPr>
              <a:t>Lassner, Zollhöfer. Pulsar. CVPR, 2021.  ·  Bagdasarian et al. 3DGS.zip survey. CGF, 2025.</a:t>
            </a:r>
            <a:endParaRPr lang="en-US" sz="1250" dirty="0"/>
          </a:p>
        </p:txBody>
      </p:sp>
      <p:sp>
        <p:nvSpPr>
          <p:cNvPr id="6" name="Text 4"/>
          <p:cNvSpPr txBox="1"/>
          <p:nvPr/>
        </p:nvSpPr>
        <p:spPr>
          <a:xfrm>
            <a:off x="640080" y="5943600"/>
            <a:ext cx="10881360" cy="320040"/>
          </a:xfrm>
          <a:prstGeom prst="rect">
            <a:avLst/>
          </a:prstGeom>
          <a:noFill/>
          <a:ln/>
        </p:spPr>
        <p:txBody>
          <a:bodyPr wrap="square" lIns="0" tIns="0" rIns="0" bIns="0" rtlCol="0" anchor="ctr"/>
          <a:lstStyle/>
          <a:p>
            <a:pPr indent="0" marL="0">
              <a:buNone/>
            </a:pPr>
            <a:r>
              <a:rPr lang="en-US" sz="1150" i="1" dirty="0">
                <a:solidFill>
                  <a:srgbClr val="5B6B80"/>
                </a:solidFill>
                <a:latin typeface="Calibri" pitchFamily="34" charset="0"/>
                <a:ea typeface="Calibri" pitchFamily="34" charset="-122"/>
                <a:cs typeface="Calibri" pitchFamily="34" charset="-120"/>
              </a:rPr>
              <a:t>Literature surveyed 30 August 2026. Re-check before submission.</a:t>
            </a:r>
            <a:endParaRPr lang="en-US" sz="1150" dirty="0"/>
          </a:p>
        </p:txBody>
      </p:sp>
      <p:sp>
        <p:nvSpPr>
          <p:cNvPr id="7" name="Text 5"/>
          <p:cNvSpPr txBox="1"/>
          <p:nvPr/>
        </p:nvSpPr>
        <p:spPr>
          <a:xfrm>
            <a:off x="640080" y="6355080"/>
            <a:ext cx="6400800" cy="274320"/>
          </a:xfrm>
          <a:prstGeom prst="rect">
            <a:avLst/>
          </a:prstGeom>
          <a:noFill/>
          <a:ln/>
        </p:spPr>
        <p:txBody>
          <a:bodyPr wrap="square" lIns="0" tIns="0" rIns="0" bIns="0" rtlCol="0" anchor="ctr"/>
          <a:lstStyle/>
          <a:p>
            <a:pPr algn="l" indent="0" marL="0">
              <a:buNone/>
            </a:pPr>
            <a:endParaRPr lang="en-US" sz="950" dirty="0"/>
          </a:p>
        </p:txBody>
      </p:sp>
      <p:sp>
        <p:nvSpPr>
          <p:cNvPr id="8" name="Text 6"/>
          <p:cNvSpPr txBox="1"/>
          <p:nvPr/>
        </p:nvSpPr>
        <p:spPr>
          <a:xfrm>
            <a:off x="10607040" y="6355080"/>
            <a:ext cx="914400" cy="274320"/>
          </a:xfrm>
          <a:prstGeom prst="rect">
            <a:avLst/>
          </a:prstGeom>
          <a:noFill/>
          <a:ln/>
        </p:spPr>
        <p:txBody>
          <a:bodyPr wrap="square" lIns="0" tIns="0" rIns="0" bIns="0" rtlCol="0" anchor="ctr"/>
          <a:lstStyle/>
          <a:p>
            <a:pPr algn="r" indent="0" marL="0">
              <a:buNone/>
            </a:pPr>
            <a:r>
              <a:rPr lang="en-US" sz="950" b="1" spc="160" kern="0" dirty="0">
                <a:solidFill>
                  <a:srgbClr val="5B6B80"/>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Sampling-Geometry Splatting</dc:title>
  <dc:subject>PptxGenJS Presentation</dc:subject>
  <dc:creator>Rickarya · 23EE30019</dc:creator>
  <cp:lastModifiedBy>Rickarya · 23EE30019</cp:lastModifiedBy>
  <cp:revision>1</cp:revision>
  <dcterms:created xsi:type="dcterms:W3CDTF">2026-08-30T14:56:19Z</dcterms:created>
  <dcterms:modified xsi:type="dcterms:W3CDTF">2026-08-30T14:56:19Z</dcterms:modified>
</cp:coreProperties>
</file>