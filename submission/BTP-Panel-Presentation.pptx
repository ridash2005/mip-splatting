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371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939D"/>
                </a:solidFill>
                <a:latin typeface="Segoe UI"/>
              </a:rPr>
              <a:t>B.TECH PROJECT  ·  DEPARTMENT OF ELECTRICAL ENGINEERING  ·  IIT KHARAGPUR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20240"/>
            <a:ext cx="1087495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1D21"/>
                </a:solidFill>
                <a:latin typeface="Segoe UI"/>
              </a:rPr>
              <a:t>Sampling Geometries and Band-Limits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1A1D21"/>
                </a:solidFill>
                <a:latin typeface="Segoe UI"/>
              </a:rPr>
              <a:t>for Radiance Fields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88620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1148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514E"/>
                </a:solidFill>
                <a:latin typeface="Segoe UI"/>
              </a:rPr>
              <a:t>The size limit on a splatting primitive should be the inverse of the accumulated sampling information, floored at the per-view Nyquist limit — a matrix, not a scalar.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5778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8B939D"/>
                </a:solidFill>
                <a:latin typeface="Segoe UI"/>
              </a:rPr>
              <a:t>Rickarya Das · 23EE30019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8B939D"/>
                </a:solidFill>
                <a:latin typeface="Segoe UI"/>
              </a:rPr>
              <a:t>Baselines: 3D Gaussian Splatting (2023) · Mip-Splatting (2024)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A band-limit that was removed, then restored wrongly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23774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1783080"/>
            <a:ext cx="32004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where the limit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783080"/>
            <a:ext cx="30175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how it is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728" y="1783080"/>
            <a:ext cx="22860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granularity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543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64080"/>
            <a:ext cx="23774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NeRF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164080"/>
            <a:ext cx="32004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positional-encoding band 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164080"/>
            <a:ext cx="30175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by hand, from the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164080"/>
            <a:ext cx="22860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one scalar, whole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90216"/>
            <a:ext cx="23774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3DGS (2023)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90216"/>
            <a:ext cx="32004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nowhere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490216"/>
            <a:ext cx="30175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no regularisation is applied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490216"/>
            <a:ext cx="22860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absent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16352"/>
            <a:ext cx="23774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Mip-Splatting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816352"/>
            <a:ext cx="32004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variance added to covariance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816352"/>
            <a:ext cx="30175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nearest depth, largest focal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816352"/>
            <a:ext cx="22860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one scalar per primitive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42488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this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142488"/>
            <a:ext cx="320040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covariance added to covariance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142488"/>
            <a:ext cx="301752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accumulated sampling information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142488"/>
            <a:ext cx="228600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per primitive, per direction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77639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06240"/>
            <a:ext cx="1087495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52514E"/>
                </a:solidFill>
                <a:latin typeface="Segoe UI"/>
              </a:rPr>
              <a:t>NeRF used none of the geometry beyond a global glance at the images; 3DGS used none at all; Mip-Splatting used </a:t>
            </a:r>
            <a:r>
              <a:rPr sz="1900" b="1">
                <a:solidFill>
                  <a:srgbClr val="52514E"/>
                </a:solidFill>
                <a:latin typeface="Segoe UI"/>
              </a:rPr>
              <a:t>one view's worth</a:t>
            </a:r>
            <a:r>
              <a:rPr sz="1900" b="0">
                <a:solidFill>
                  <a:srgbClr val="52514E"/>
                </a:solidFill>
                <a:latin typeface="Segoe UI"/>
              </a:rPr>
              <a:t>; this work uses all of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6834"/>
                </a:solidFill>
                <a:latin typeface="Segoe UI"/>
              </a:rPr>
              <a:t>Cost of having no limit: 10.98 dB at 1/8 scale, in the published 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THE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Treat primitive position as an estimation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A78D6"/>
                </a:solidFill>
                <a:latin typeface="Segoe UI"/>
              </a:rPr>
              <a:t>Λₖ  =  Σₙ  wₙₖ · (JₙWₙ)ᵀ Σₚᵢₓ⁻¹ (JₙWₙ)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B939D"/>
                </a:solidFill>
                <a:latin typeface="Segoe UI"/>
              </a:rPr>
              <a:t>JₙWₙ is the EWA Jacobian the renderer already forms to project a covariance. No new geometry is introduced.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29184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566160"/>
            <a:ext cx="338114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78D6"/>
                </a:solidFill>
                <a:latin typeface="Segoe UI"/>
              </a:rPr>
              <a:t>Proposition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23360"/>
            <a:ext cx="338114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Mip-Splatting's filter is the single-view, lateral-only, isotropised special case — and its constant √0.2 is a sub-pixel confidence of 0.447 px. A magic number in a published paper, explained.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5274" y="3566160"/>
            <a:ext cx="338114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78D6"/>
                </a:solidFill>
                <a:latin typeface="Segoe UI"/>
              </a:rPr>
              <a:t>Proposition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5274" y="4023360"/>
            <a:ext cx="338114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Floored at Mip-Splatting's own value, the method reduces to that baseline exactly where the floor dominates. Parity on standard benchmarks is structural, not hoped for — a loss there is a bug.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2180" y="3566160"/>
            <a:ext cx="338114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78D6"/>
                </a:solidFill>
                <a:latin typeface="Segoe UI"/>
              </a:rPr>
              <a:t>The anisotropy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2180" y="4023360"/>
            <a:ext cx="3381146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Closed form in three regimes: cos²φ within one view, a triaxial spectrum across two, and a cap form over a distribution of views — which is what a real capture protocol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THE THEORY, AND ITS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A protocol is a distribution, not two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6-aniso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6766560" cy="4105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83080"/>
            <a:ext cx="3760927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The two-view closed form 1/sin(θ/2) is exact — for two views. A protocol is ten or a hundred cameras spread over a window, and for a cap its λ₃/λ₁ is asymptotically </a:t>
            </a:r>
            <a:r>
              <a:rPr sz="1500" b="1">
                <a:solidFill>
                  <a:srgbClr val="52514E"/>
                </a:solidFill>
                <a:latin typeface="Segoe UI"/>
              </a:rPr>
              <a:t>half</a:t>
            </a:r>
            <a:r>
              <a:rPr sz="1500" b="0">
                <a:solidFill>
                  <a:srgbClr val="52514E"/>
                </a:solidFill>
                <a:latin typeface="Segoe UI"/>
              </a:rPr>
              <a:t> the two-view value, so the two-view form understates the depth anisotropy by √2.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1">
                <a:solidFill>
                  <a:srgbClr val="52514E"/>
                </a:solidFill>
                <a:latin typeface="Segoe UI"/>
              </a:rPr>
              <a:t>Direction matters. </a:t>
            </a:r>
            <a:r>
              <a:rPr sz="1500" b="0">
                <a:solidFill>
                  <a:srgbClr val="52514E"/>
                </a:solidFill>
                <a:latin typeface="Segoe UI"/>
              </a:rPr>
              <a:t>Measuring more anisotropy than the two-view form predicts is the model working. Reported against the wrong form, a confirmation would have read as a discrepancy.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0">
                <a:solidFill>
                  <a:srgbClr val="52514E"/>
                </a:solidFill>
                <a:latin typeface="Segoe UI"/>
              </a:rPr>
              <a:t>Against the cap form at each protocol's own measured span, the five measurements agree to 10–15%. They were low by 60% against the two-view 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What the literature already had, and what is left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274320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1783080"/>
            <a:ext cx="38404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42048" y="1783080"/>
            <a:ext cx="42976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why this work survives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543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64080"/>
            <a:ext cx="274320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AAA-Gaussians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164080"/>
            <a:ext cx="38404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already makes the 3D filter a full 3×3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164080"/>
            <a:ext cx="42976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anisotropy from the CURRENT VIEW RAY, per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24912"/>
            <a:ext cx="274320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PUP 3D-GS (CVPR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724912"/>
            <a:ext cx="38404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already builds this per-primitive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724912"/>
            <a:ext cx="42976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collapses it to a SCALAR and prunes; spectrum discarded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85744"/>
            <a:ext cx="274320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FisherRF (ECCV 2024)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285744"/>
            <a:ext cx="38404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Fisher information in 3DGS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3285744"/>
            <a:ext cx="4297680" cy="560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scores cameras to ACQUIRE; changes the dataset, not the primitive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9288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15747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B939D"/>
                </a:solidFill>
                <a:latin typeface="Segoe UI"/>
              </a:rPr>
              <a:t>So the contribution was narrowed, before the decisive experiment was run: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97680"/>
            <a:ext cx="1087495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1A1D21"/>
                </a:solidFill>
                <a:latin typeface="Segoe UI"/>
              </a:rPr>
              <a:t>Not an anisotropic 3D filter. Not a per-primitive information matrix. What is new is the </a:t>
            </a:r>
            <a:r>
              <a:rPr sz="2100" b="1">
                <a:solidFill>
                  <a:srgbClr val="2A78D6"/>
                </a:solidFill>
                <a:latin typeface="Segoe UI"/>
              </a:rPr>
              <a:t>source</a:t>
            </a:r>
            <a:r>
              <a:rPr sz="2100" b="0">
                <a:solidFill>
                  <a:srgbClr val="1A1D21"/>
                </a:solidFill>
                <a:latin typeface="Segoe UI"/>
              </a:rPr>
              <a:t> of the anisotropy — the conditioning of the capture that happened, fixed once per primitive — and the retention of its </a:t>
            </a:r>
            <a:r>
              <a:rPr sz="2100" b="1">
                <a:solidFill>
                  <a:srgbClr val="2A78D6"/>
                </a:solidFill>
                <a:latin typeface="Segoe UI"/>
              </a:rPr>
              <a:t>spectrum</a:t>
            </a:r>
            <a:r>
              <a:rPr sz="2100" b="0">
                <a:solidFill>
                  <a:srgbClr val="1A1D21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85216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B939D"/>
                </a:solidFill>
                <a:latin typeface="Segoe UI"/>
              </a:rPr>
              <a:t>A primitive seen from a narrow baseline is under-determined along depth whichever view renders it. A render-time filter cannot see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Frozen before any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Two arms, one codebase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53035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Arm A is Mip-Splatting. Arm B is 3DGS's band-limit semantics — filter_3D identically zero, kernel_size 0.3 — exact by Proposition 2 and verified on the saved point clouds, not argued from source.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Both arms share the dataloader, the metrics, the LPIPS backbone and the densification, so the gap between them is the method and not the plumbing.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Six capture protocols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40280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span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240280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σ_D/σ_L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2240280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1D21"/>
                </a:solidFill>
                <a:latin typeface="Segoe UI"/>
              </a:rPr>
              <a:t>above floor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11552"/>
            <a:ext cx="512064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21280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full orbit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21280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179°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621280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1.14×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621280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47416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grazing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47416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168°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947416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1.42×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947416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73552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mixed focal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73552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179°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273552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1.16×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273552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99688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one-sided arc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599688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94°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599688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2.10×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3599688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25824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low-parallax cone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25824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51°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925824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4.01×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3925824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51960"/>
            <a:ext cx="21031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narrow pencil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51960"/>
            <a:ext cx="100584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20°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251960"/>
            <a:ext cx="109728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9.42×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251960"/>
            <a:ext cx="1188720" cy="326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84632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07492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Acceptance levels and decision gates were declared in advance, so a disappointing number could not be rationalised into a success. Where a gate failed it is reported as failed.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1 · THE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Both baselines reproduced on free compute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test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1783080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Mip-Splatting, 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1888" y="178308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published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1783080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Δ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71116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808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1808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33.44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180844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33.36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180844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+0.08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5237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34.01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523744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34.00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523744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+0.01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666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1/4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8666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31.78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866644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31.85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866644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−0.07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2095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1/8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2095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28.58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209544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28.67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3209544"/>
            <a:ext cx="18288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−0.09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84048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Mip-Splatting reproduces to within ±0.20 dB at all four test scales. By the criterion declared before any run, this is </a:t>
            </a:r>
            <a:r>
              <a:rPr sz="1800" b="1">
                <a:solidFill>
                  <a:srgbClr val="2A78D6"/>
                </a:solidFill>
                <a:latin typeface="Segoe UI"/>
              </a:rPr>
              <a:t>L1 — numerical reproduction</a:t>
            </a:r>
            <a:r>
              <a:rPr sz="1800" b="0">
                <a:solidFill>
                  <a:srgbClr val="52514E"/>
                </a:solidFill>
                <a:latin typeface="Segoe UI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6344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89204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B939D"/>
                </a:solidFill>
                <a:latin typeface="Segoe UI"/>
              </a:rPr>
              <a:t>184 measured rows, 8 Blender scenes × 2 protocols × 2 arms × 4 test scales, plus 8 real scenes from Mip-NeRF 360, Tanks &amp; Temples and Deep Blending. Every row carries both commits, the LPIPS backbone, peak VRAM, primitive count and the claimed acceptance level.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1 · THE CONTROL, VISIBLY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What 10 dB of PSNR actually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1c-qualitative-ladder-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212080" cy="3707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600200"/>
            <a:ext cx="5669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One view of </a:t>
            </a:r>
            <a:r>
              <a:rPr sz="1500" b="1">
                <a:solidFill>
                  <a:srgbClr val="52514E"/>
                </a:solidFill>
                <a:latin typeface="Segoe UI"/>
              </a:rPr>
              <a:t>lego</a:t>
            </a:r>
            <a:r>
              <a:rPr sz="1500" b="0">
                <a:solidFill>
                  <a:srgbClr val="52514E"/>
                </a:solidFill>
                <a:latin typeface="Segoe UI"/>
              </a:rPr>
              <a:t>, trained once at full resolution and tested at four scales. Left is ground truth, middle 3DGS, right Mip-Splatting.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1">
                <a:solidFill>
                  <a:srgbClr val="52514E"/>
                </a:solidFill>
                <a:latin typeface="Segoe UI"/>
              </a:rPr>
              <a:t>At the training scale the two are indistinguishable</a:t>
            </a:r>
            <a:r>
              <a:rPr sz="1500" b="0">
                <a:solidFill>
                  <a:srgbClr val="52514E"/>
                </a:solidFill>
                <a:latin typeface="Segoe UI"/>
              </a:rPr>
              <a:t> — they agree to 0.07 dB. One octave down they have separated by 7 dB, and the 3DGS reconstruction visibly </a:t>
            </a:r>
            <a:r>
              <a:rPr sz="1500" b="1">
                <a:solidFill>
                  <a:srgbClr val="EB6834"/>
                </a:solidFill>
                <a:latin typeface="Segoe UI"/>
              </a:rPr>
              <a:t>thickens</a:t>
            </a:r>
            <a:r>
              <a:rPr sz="1500" b="0">
                <a:solidFill>
                  <a:srgbClr val="52514E"/>
                </a:solidFill>
                <a:latin typeface="Segoe UI"/>
              </a:rPr>
              <a:t>: treads merge, the gap between the shovel arms closes, the yellow spreads past the studs that bound it.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A primitive smaller than a pixel is not removed by being unresolvable — it is splatted at full opacity into the pixel that contains it, and many such primitives sum. The band-limit is what stops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544068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939D"/>
                </a:solidFill>
                <a:latin typeface="Segoe UI"/>
              </a:rPr>
              <a:t>The pixels the PSNR column was computed from, not a re-render made for the slide. Nearest-neighbour magnification, so no resampler hides the aliasing.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1 · THE CONTROL, VISIBLY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The same signature on every scene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2c-qualitative-scenes-co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4754880" cy="50473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600200"/>
            <a:ext cx="5669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The 1/8 row, three of the eight scenes.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1">
                <a:solidFill>
                  <a:srgbClr val="52514E"/>
                </a:solidFill>
                <a:latin typeface="Segoe UI"/>
              </a:rPr>
              <a:t>materials</a:t>
            </a:r>
            <a:r>
              <a:rPr sz="1500" b="0">
                <a:solidFill>
                  <a:srgbClr val="52514E"/>
                </a:solidFill>
                <a:latin typeface="Segoe UI"/>
              </a:rPr>
              <a:t> is the clearest case: the spheres lose their specular highlights to bloom and the dark ones lift towards grey. The image gains energy it should not have.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These three are shown because they are visually distinct from one another. Every scene measured under both arms shows the same thing, and all eight are stored as per-scene contact sheets in results/qualitative/ so the selection can be audited.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2 · 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The method can only act where the floor stops binding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8-floor-b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91640"/>
            <a:ext cx="6583680" cy="4094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783080"/>
            <a:ext cx="3943807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This is the cheapest falsification the project had, and it did not fire.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0">
                <a:solidFill>
                  <a:srgbClr val="52514E"/>
                </a:solidFill>
                <a:latin typeface="Segoe UI"/>
              </a:rPr>
              <a:t>On the standard benchmark the Nyquist floor dominates the estimation term by a factor of three, on 100% of primitives, in every direction. Proposition 2 then makes the anisotropic filter and Mip-Splatting the same filter there — </a:t>
            </a:r>
            <a:r>
              <a:rPr sz="1500" b="1">
                <a:solidFill>
                  <a:srgbClr val="52514E"/>
                </a:solidFill>
                <a:latin typeface="Segoe UI"/>
              </a:rPr>
              <a:t>no gain is available on the standard benchmark, and one would be a bug</a:t>
            </a:r>
            <a:r>
              <a:rPr sz="1500" b="0">
                <a:solidFill>
                  <a:srgbClr val="52514E"/>
                </a:solidFill>
                <a:latin typeface="Segoe U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Degrade the capture and the balance moves exactly as predicted. Only the arc and the cone cross the line. That regime structure is the claim.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3 ·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Proposition 2, as a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9-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28800"/>
            <a:ext cx="10881360" cy="3865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39496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the anisotropic filter's curve is drawn dashed on top of Mip-Splatting's and is invisible beneath it, because that is what the proposition requires. The difference the band-limit makes is several decibels; the difference between which band-limit is hundredths of 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4 · THE DECISIVE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Where the claim lives: degraded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7-stress-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7360"/>
            <a:ext cx="7315200" cy="36099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828800"/>
            <a:ext cx="3395167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Both methods train on the same protocol subset, in the same session, with the same seed, so the difference is paired per scene and test scale.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0">
                <a:solidFill>
                  <a:srgbClr val="52514E"/>
                </a:solidFill>
                <a:latin typeface="Segoe UI"/>
              </a:rPr>
              <a:t>The shaded band is ±3σ of the harness's own run-to-run spread. A bar inside it is not a result.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0">
                <a:solidFill>
                  <a:srgbClr val="52514E"/>
                </a:solidFill>
                <a:latin typeface="Segoe UI"/>
              </a:rPr>
              <a:t>The prediction, recorded before the runs: no change on the full orbit — Proposition 2 forbids it — and a gain ordered cone &gt; arc &gt; full ≈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5 · THE ANGULAR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The same argument in the angular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0-b2-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6400800" cy="3407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74519"/>
            <a:ext cx="4126687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Spherical-harmonic coefficients are 76% of the model. A primitive seen from a narrow cone cannot support degree 3, and the angular mask does not give it one.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/>
            </a:r>
            <a:r>
              <a:rPr sz="1500" b="1">
                <a:solidFill>
                  <a:srgbClr val="52514E"/>
                </a:solidFill>
                <a:latin typeface="Segoe UI"/>
              </a:rPr>
              <a:t>Measurement amended the criterion. </a:t>
            </a:r>
            <a:r>
              <a:rPr sz="1500" b="0">
                <a:solidFill>
                  <a:srgbClr val="52514E"/>
                </a:solidFill>
                <a:latin typeface="Segoe UI"/>
              </a:rPr>
              <a:t>An absolute λ_min threshold has no value that responds gradually across regimes — it keeps everything on a full orbit and nothing on a cone. The scale-free condition number does, and is now the default. That is a change to the method only measurement could have produced.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RESULT 6 ·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Rendering is unchanged, and it is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32918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0208" y="1783080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783080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fps (render call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3728" y="1783080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1D21"/>
                </a:solidFill>
                <a:latin typeface="Segoe UI"/>
              </a:rPr>
              <a:t>vs. Mip-Splatting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71116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80844"/>
            <a:ext cx="32918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Mip-Splatting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21808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292,946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1808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112.7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2180844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1.000×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32918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B1 — Fisher band-limit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523744"/>
            <a:ext cx="237744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291,214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523744"/>
            <a:ext cx="292608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111.6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523744"/>
            <a:ext cx="22860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0.990×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840480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6908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Λ is recomputed on the filter's own training schedule — about 290 times in 30,000 iterations — and never inside the render loop. So rendering cannot be slower, and the measurement confirms it.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/>
            </a:r>
            <a:r>
              <a:rPr sz="1600" b="1">
                <a:solidFill>
                  <a:srgbClr val="52514E"/>
                </a:solidFill>
                <a:latin typeface="Segoe UI"/>
              </a:rPr>
              <a:t>What is NOT quoted here: </a:t>
            </a:r>
            <a:r>
              <a:rPr sz="1600" b="0">
                <a:solidFill>
                  <a:srgbClr val="52514E"/>
                </a:solidFill>
                <a:latin typeface="Segoe UI"/>
              </a:rPr>
              <a:t>the render_fps column logged by every rung. That is wall time over a whole render.py invocation — process start, scene load, PLY parse, PNG encode, disk write — which is why it reads 8–10 against a published 180–300. Quoting it as a rendering result would be a serious misreading of this project's own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WHAT RAN AGAINST EXPECTATION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Reported, not restated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6834"/>
                </a:solidFill>
                <a:latin typeface="Segoe UI"/>
              </a:rPr>
              <a:t>The scale-collapse gate failed, and was diagnosed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The 3DGS arm did not collapse as far as the published numbers do. The cause was found in the rasteriser, not rationalised: the arm kept the 2D Mip filter's opacity compensation, which vanilla 3DGS does not apply. The arm was rebuilt and re-measured.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443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6834"/>
                </a:solidFill>
                <a:latin typeface="Segoe UI"/>
              </a:rPr>
              <a:t>The mixed-focal protocol did not stress what it was built to stress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It moves the magnitude of the floor by 35% and its isotropy not at all. Either the protocol needs a wider focal spread than 2–4× or the defect is real but small; this measurement does not distinguish those, and is not reported as though it did.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5137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6834"/>
                </a:solidFill>
                <a:latin typeface="Segoe UI"/>
              </a:rPr>
              <a:t>Three bugs the parity requirement caught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5312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 clamp at 1e-12 silently switched off the opacity compensation for most of the model — no error, plausible numbers, the wrong shape. What exposed it was requiring parity to hold approximately.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5838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6834"/>
                </a:solidFill>
                <a:latin typeface="Segoe UI"/>
              </a:rPr>
              <a:t>The two-view prediction was the wrong model for a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60136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Every measured anisotropy sat above it, by a consistent factor. That was one error, not five measurements disagreeing: a capture is a distribution of cameras, and the cap form is what it obeys.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39D"/>
                </a:solidFill>
                <a:latin typeface="Segoe UI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D21"/>
                </a:solidFill>
                <a:latin typeface="Segoe UI"/>
              </a:rPr>
              <a:t>What is established, and what is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44752"/>
            <a:ext cx="10874959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A78D6"/>
                </a:solidFill>
                <a:latin typeface="Segoe UI"/>
              </a:rPr>
              <a:t>Established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B939D"/>
                </a:solidFill>
                <a:latin typeface="Segoe UI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Both baselines reproduced end to end on free compute; Mip-Splatting to L1 at all four test scales.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Variable-length SH storage, so the angular mask memory saving lands on disk — masking to zero leaves a fixed-width PLY the same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1868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Both proposed methods implemented, and both reduce to their baseline exactly where the theory requires — verified to 1.4×10⁻²¹ in the unit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18688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Pose-noise sensitivity: Λ inherits 3DGS's complete trust in SfM poses, and aggregation over views should degrade gracefully. That is a prediction, not a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242816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The regime structure the method depends on is measured, not assumed, across six capture protocols and eight scenes.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42816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Sampling-aware densification — the same information used to decide where primitives go, not only how large they may 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266944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Every table and figure in the thesis and in this deck regenerates from one CSV by one command.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66944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—  Composition with AAA-Gaussians: a capture-side floor and a view-side clamp answer different questions and should coexist.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